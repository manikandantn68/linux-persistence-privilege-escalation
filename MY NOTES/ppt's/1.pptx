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slide+xml" PartName="/ppt/slides/slide57.xml"/>
  <Override ContentType="application/vnd.openxmlformats-officedocument.presentationml.slide+xml" PartName="/ppt/slides/slide58.xml"/>
  <Override ContentType="application/vnd.openxmlformats-officedocument.presentationml.slide+xml" PartName="/ppt/slides/slide5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</p:sldIdLst>
  <p:sldSz cx="18288000" cy="10287000"/>
  <p:notesSz cx="6858000" cy="9144000"/>
  <p:embeddedFontLst>
    <p:embeddedFont>
      <p:font typeface="Canva Sans Bold" charset="1" panose="020B0803030501040103"/>
      <p:regular r:id="rId65"/>
    </p:embeddedFont>
    <p:embeddedFont>
      <p:font typeface="Big Shoulders Display Bold" charset="1" panose="00000000000000000000"/>
      <p:regular r:id="rId66"/>
    </p:embeddedFont>
    <p:embeddedFont>
      <p:font typeface="Canva Sans" charset="1" panose="020B0503030501040103"/>
      <p:regular r:id="rId67"/>
    </p:embeddedFont>
    <p:embeddedFont>
      <p:font typeface="Calibri (MS) Light" charset="1" panose="020F0302020204030204"/>
      <p:regular r:id="rId68"/>
    </p:embeddedFont>
    <p:embeddedFont>
      <p:font typeface="Calibri (MS)" charset="1" panose="020F0502020204030204"/>
      <p:regular r:id="rId69"/>
    </p:embeddedFont>
    <p:embeddedFont>
      <p:font typeface="Arimo" charset="1" panose="020B0604020202020204"/>
      <p:regular r:id="rId70"/>
    </p:embeddedFont>
    <p:embeddedFont>
      <p:font typeface="Calibri (MS) Bold" charset="1" panose="020F0702030404030204"/>
      <p:regular r:id="rId7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slides/slide53.xml" Type="http://schemas.openxmlformats.org/officeDocument/2006/relationships/slide"/><Relationship Id="rId59" Target="slides/slide54.xml" Type="http://schemas.openxmlformats.org/officeDocument/2006/relationships/slide"/><Relationship Id="rId6" Target="slides/slide1.xml" Type="http://schemas.openxmlformats.org/officeDocument/2006/relationships/slide"/><Relationship Id="rId60" Target="slides/slide55.xml" Type="http://schemas.openxmlformats.org/officeDocument/2006/relationships/slide"/><Relationship Id="rId61" Target="slides/slide56.xml" Type="http://schemas.openxmlformats.org/officeDocument/2006/relationships/slide"/><Relationship Id="rId62" Target="slides/slide57.xml" Type="http://schemas.openxmlformats.org/officeDocument/2006/relationships/slide"/><Relationship Id="rId63" Target="slides/slide58.xml" Type="http://schemas.openxmlformats.org/officeDocument/2006/relationships/slide"/><Relationship Id="rId64" Target="slides/slide59.xml" Type="http://schemas.openxmlformats.org/officeDocument/2006/relationships/slide"/><Relationship Id="rId65" Target="fonts/font65.fntdata" Type="http://schemas.openxmlformats.org/officeDocument/2006/relationships/font"/><Relationship Id="rId66" Target="fonts/font66.fntdata" Type="http://schemas.openxmlformats.org/officeDocument/2006/relationships/font"/><Relationship Id="rId67" Target="fonts/font67.fntdata" Type="http://schemas.openxmlformats.org/officeDocument/2006/relationships/font"/><Relationship Id="rId68" Target="fonts/font68.fntdata" Type="http://schemas.openxmlformats.org/officeDocument/2006/relationships/font"/><Relationship Id="rId69" Target="fonts/font69.fntdata" Type="http://schemas.openxmlformats.org/officeDocument/2006/relationships/font"/><Relationship Id="rId7" Target="slides/slide2.xml" Type="http://schemas.openxmlformats.org/officeDocument/2006/relationships/slide"/><Relationship Id="rId70" Target="fonts/font70.fntdata" Type="http://schemas.openxmlformats.org/officeDocument/2006/relationships/font"/><Relationship Id="rId71" Target="fonts/font71.fntdata" Type="http://schemas.openxmlformats.org/officeDocument/2006/relationships/font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44.png" Type="http://schemas.openxmlformats.org/officeDocument/2006/relationships/image"/><Relationship Id="rId4" Target="../media/image45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46928" y="604184"/>
            <a:ext cx="5390388" cy="8229600"/>
          </a:xfrm>
          <a:custGeom>
            <a:avLst/>
            <a:gdLst/>
            <a:ahLst/>
            <a:cxnLst/>
            <a:rect r="r" b="b" t="t" l="l"/>
            <a:pathLst>
              <a:path h="8229600" w="5390388">
                <a:moveTo>
                  <a:pt x="0" y="0"/>
                </a:moveTo>
                <a:lnTo>
                  <a:pt x="5390388" y="0"/>
                </a:lnTo>
                <a:lnTo>
                  <a:pt x="539038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213" t="0" r="-12213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68327" y="-538741"/>
            <a:ext cx="3204146" cy="813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657"/>
              </a:lnSpc>
            </a:pPr>
            <a:r>
              <a:rPr lang="en-US" sz="47612" b="true">
                <a:solidFill>
                  <a:srgbClr val="FDFD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537562" y="-688433"/>
            <a:ext cx="3204146" cy="813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657"/>
              </a:lnSpc>
            </a:pPr>
            <a:r>
              <a:rPr lang="en-US" sz="47612" b="true">
                <a:solidFill>
                  <a:srgbClr val="FDFD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71298" y="5143500"/>
            <a:ext cx="5002595" cy="5489816"/>
          </a:xfrm>
          <a:custGeom>
            <a:avLst/>
            <a:gdLst/>
            <a:ahLst/>
            <a:cxnLst/>
            <a:rect r="r" b="b" t="t" l="l"/>
            <a:pathLst>
              <a:path h="5489816" w="5002595">
                <a:moveTo>
                  <a:pt x="0" y="0"/>
                </a:moveTo>
                <a:lnTo>
                  <a:pt x="5002594" y="0"/>
                </a:lnTo>
                <a:lnTo>
                  <a:pt x="5002594" y="5489816"/>
                </a:lnTo>
                <a:lnTo>
                  <a:pt x="0" y="54898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1435" y="2122207"/>
            <a:ext cx="15468465" cy="4647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409"/>
              </a:lnSpc>
            </a:pPr>
            <a:r>
              <a:rPr lang="en-US" b="true" sz="4523">
                <a:solidFill>
                  <a:srgbClr val="FDFDFD"/>
                </a:solidFill>
                <a:latin typeface="Big Shoulders Display Bold"/>
                <a:ea typeface="Big Shoulders Display Bold"/>
                <a:cs typeface="Big Shoulders Display Bold"/>
                <a:sym typeface="Big Shoulders Display Bold"/>
              </a:rPr>
              <a:t>LOGICAL GATE</a:t>
            </a:r>
          </a:p>
          <a:p>
            <a:pPr algn="just">
              <a:lnSpc>
                <a:spcPts val="9409"/>
              </a:lnSpc>
            </a:pPr>
            <a:r>
              <a:rPr lang="en-US" b="true" sz="4523">
                <a:solidFill>
                  <a:srgbClr val="FDFDFD"/>
                </a:solidFill>
                <a:latin typeface="Big Shoulders Display Bold"/>
                <a:ea typeface="Big Shoulders Display Bold"/>
                <a:cs typeface="Big Shoulders Display Bold"/>
                <a:sym typeface="Big Shoulders Display Bold"/>
              </a:rPr>
              <a:t>LOGICAL  GATE ARE ELECTRONIC COMPONENTS THE OUTPUT OF GATE BASED ON ONE OR MORE INPUTS</a:t>
            </a:r>
          </a:p>
          <a:p>
            <a:pPr algn="just">
              <a:lnSpc>
                <a:spcPts val="9409"/>
              </a:lnSpc>
            </a:pPr>
            <a:r>
              <a:rPr lang="en-US" b="true" sz="4523">
                <a:solidFill>
                  <a:srgbClr val="FDFDFD"/>
                </a:solidFill>
                <a:latin typeface="Big Shoulders Display Bold"/>
                <a:ea typeface="Big Shoulders Display Bold"/>
                <a:cs typeface="Big Shoulders Display Bold"/>
                <a:sym typeface="Big Shoulders Display Bold"/>
              </a:rPr>
              <a:t>TWO VOLTAGE LEVELS CAN BE REPRESENTED AS THE TWO DIGITS 0 AND 1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50578" y="3317552"/>
            <a:ext cx="6594840" cy="6969448"/>
          </a:xfrm>
          <a:custGeom>
            <a:avLst/>
            <a:gdLst/>
            <a:ahLst/>
            <a:cxnLst/>
            <a:rect r="r" b="b" t="t" l="l"/>
            <a:pathLst>
              <a:path h="6969448" w="6594840">
                <a:moveTo>
                  <a:pt x="0" y="0"/>
                </a:moveTo>
                <a:lnTo>
                  <a:pt x="6594839" y="0"/>
                </a:lnTo>
                <a:lnTo>
                  <a:pt x="6594839" y="6969448"/>
                </a:lnTo>
                <a:lnTo>
                  <a:pt x="0" y="69694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8048" y="498077"/>
            <a:ext cx="15468465" cy="775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745"/>
              </a:lnSpc>
            </a:pPr>
            <a:r>
              <a:rPr lang="en-US" b="true" sz="3723">
                <a:solidFill>
                  <a:srgbClr val="FFFFFF"/>
                </a:solidFill>
                <a:latin typeface="Big Shoulders Display Bold"/>
                <a:ea typeface="Big Shoulders Display Bold"/>
                <a:cs typeface="Big Shoulders Display Bold"/>
                <a:sym typeface="Big Shoulders Display Bold"/>
              </a:rPr>
              <a:t>ORDERED LOGIC GATES (SIMPLE EXPLANATION)</a:t>
            </a:r>
          </a:p>
          <a:p>
            <a:pPr algn="just">
              <a:lnSpc>
                <a:spcPts val="7745"/>
              </a:lnSpc>
            </a:pPr>
            <a:r>
              <a:rPr lang="en-US" b="true" sz="3723">
                <a:solidFill>
                  <a:srgbClr val="FFFFFF"/>
                </a:solidFill>
                <a:latin typeface="Big Shoulders Display Bold"/>
                <a:ea typeface="Big Shoulders Display Bold"/>
                <a:cs typeface="Big Shoulders Display Bold"/>
                <a:sym typeface="Big Shoulders Display Bold"/>
              </a:rPr>
              <a:t>AND GATE → OUTPUTS 1 ONLY IF BOTH INPUTS ARE 1.</a:t>
            </a:r>
          </a:p>
          <a:p>
            <a:pPr algn="just">
              <a:lnSpc>
                <a:spcPts val="7745"/>
              </a:lnSpc>
            </a:pPr>
            <a:r>
              <a:rPr lang="en-US" b="true" sz="3723">
                <a:solidFill>
                  <a:srgbClr val="FFFFFF"/>
                </a:solidFill>
                <a:latin typeface="Big Shoulders Display Bold"/>
                <a:ea typeface="Big Shoulders Display Bold"/>
                <a:cs typeface="Big Shoulders Display Bold"/>
                <a:sym typeface="Big Shoulders Display Bold"/>
              </a:rPr>
              <a:t>NAND GATE → OPPOSITE OF AND, OUTPUTS 0 ONLY IF BOTH INPUTS ARE 1.</a:t>
            </a:r>
          </a:p>
          <a:p>
            <a:pPr algn="just">
              <a:lnSpc>
                <a:spcPts val="7745"/>
              </a:lnSpc>
            </a:pPr>
            <a:r>
              <a:rPr lang="en-US" b="true" sz="3723">
                <a:solidFill>
                  <a:srgbClr val="FFFFFF"/>
                </a:solidFill>
                <a:latin typeface="Big Shoulders Display Bold"/>
                <a:ea typeface="Big Shoulders Display Bold"/>
                <a:cs typeface="Big Shoulders Display Bold"/>
                <a:sym typeface="Big Shoulders Display Bold"/>
              </a:rPr>
              <a:t>OR GATE → OUTPUTS 1 IF AT LEAST ONE INPUT IS 1.</a:t>
            </a:r>
          </a:p>
          <a:p>
            <a:pPr algn="just">
              <a:lnSpc>
                <a:spcPts val="7745"/>
              </a:lnSpc>
            </a:pPr>
            <a:r>
              <a:rPr lang="en-US" b="true" sz="3723">
                <a:solidFill>
                  <a:srgbClr val="FFFFFF"/>
                </a:solidFill>
                <a:latin typeface="Big Shoulders Display Bold"/>
                <a:ea typeface="Big Shoulders Display Bold"/>
                <a:cs typeface="Big Shoulders Display Bold"/>
                <a:sym typeface="Big Shoulders Display Bold"/>
              </a:rPr>
              <a:t>NOR GATE → OPPOSITE OF OR, OUTPUTS 1 ONLY IF BOTH INPUTS ARE 0.</a:t>
            </a:r>
          </a:p>
          <a:p>
            <a:pPr algn="just">
              <a:lnSpc>
                <a:spcPts val="7745"/>
              </a:lnSpc>
            </a:pPr>
            <a:r>
              <a:rPr lang="en-US" b="true" sz="3723">
                <a:solidFill>
                  <a:srgbClr val="FFFFFF"/>
                </a:solidFill>
                <a:latin typeface="Big Shoulders Display Bold"/>
                <a:ea typeface="Big Shoulders Display Bold"/>
                <a:cs typeface="Big Shoulders Display Bold"/>
                <a:sym typeface="Big Shoulders Display Bold"/>
              </a:rPr>
              <a:t>XOR GATE → OUTPUTS 1 IF INPUTS ARE DIFFERENT.</a:t>
            </a:r>
          </a:p>
          <a:p>
            <a:pPr algn="just">
              <a:lnSpc>
                <a:spcPts val="7745"/>
              </a:lnSpc>
            </a:pPr>
            <a:r>
              <a:rPr lang="en-US" b="true" sz="3723">
                <a:solidFill>
                  <a:srgbClr val="FFFFFF"/>
                </a:solidFill>
                <a:latin typeface="Big Shoulders Display Bold"/>
                <a:ea typeface="Big Shoulders Display Bold"/>
                <a:cs typeface="Big Shoulders Display Bold"/>
                <a:sym typeface="Big Shoulders Display Bold"/>
              </a:rPr>
              <a:t>XNOR GATE → OUTPUTS 1 IF INPUTS ARE THE SAME.</a:t>
            </a:r>
          </a:p>
          <a:p>
            <a:pPr algn="just">
              <a:lnSpc>
                <a:spcPts val="7745"/>
              </a:lnSpc>
            </a:pPr>
            <a:r>
              <a:rPr lang="en-US" b="true" sz="3723">
                <a:solidFill>
                  <a:srgbClr val="FFFFFF"/>
                </a:solidFill>
                <a:latin typeface="Big Shoulders Display Bold"/>
                <a:ea typeface="Big Shoulders Display Bold"/>
                <a:cs typeface="Big Shoulders Display Bold"/>
                <a:sym typeface="Big Shoulders Display Bold"/>
              </a:rPr>
              <a:t>BUFFER → PASSES THE INPUT UNCHANGED (0 → 0, 1 → 1).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56133" y="1505716"/>
            <a:ext cx="14551134" cy="7275567"/>
          </a:xfrm>
          <a:custGeom>
            <a:avLst/>
            <a:gdLst/>
            <a:ahLst/>
            <a:cxnLst/>
            <a:rect r="r" b="b" t="t" l="l"/>
            <a:pathLst>
              <a:path h="7275567" w="14551134">
                <a:moveTo>
                  <a:pt x="0" y="0"/>
                </a:moveTo>
                <a:lnTo>
                  <a:pt x="14551134" y="0"/>
                </a:lnTo>
                <a:lnTo>
                  <a:pt x="14551134" y="7275568"/>
                </a:lnTo>
                <a:lnTo>
                  <a:pt x="0" y="72755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54546" y="1251423"/>
            <a:ext cx="14202987" cy="7347000"/>
          </a:xfrm>
          <a:custGeom>
            <a:avLst/>
            <a:gdLst/>
            <a:ahLst/>
            <a:cxnLst/>
            <a:rect r="r" b="b" t="t" l="l"/>
            <a:pathLst>
              <a:path h="7347000" w="14202987">
                <a:moveTo>
                  <a:pt x="0" y="0"/>
                </a:moveTo>
                <a:lnTo>
                  <a:pt x="14202987" y="0"/>
                </a:lnTo>
                <a:lnTo>
                  <a:pt x="14202987" y="7346999"/>
                </a:lnTo>
                <a:lnTo>
                  <a:pt x="0" y="73469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60971" y="6289162"/>
            <a:ext cx="1725854" cy="4114800"/>
          </a:xfrm>
          <a:custGeom>
            <a:avLst/>
            <a:gdLst/>
            <a:ahLst/>
            <a:cxnLst/>
            <a:rect r="r" b="b" t="t" l="l"/>
            <a:pathLst>
              <a:path h="4114800" w="1725854">
                <a:moveTo>
                  <a:pt x="0" y="0"/>
                </a:moveTo>
                <a:lnTo>
                  <a:pt x="1725855" y="0"/>
                </a:lnTo>
                <a:lnTo>
                  <a:pt x="17258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33120" y="857518"/>
            <a:ext cx="12633278" cy="8571964"/>
          </a:xfrm>
          <a:custGeom>
            <a:avLst/>
            <a:gdLst/>
            <a:ahLst/>
            <a:cxnLst/>
            <a:rect r="r" b="b" t="t" l="l"/>
            <a:pathLst>
              <a:path h="8571964" w="12633278">
                <a:moveTo>
                  <a:pt x="0" y="0"/>
                </a:moveTo>
                <a:lnTo>
                  <a:pt x="12633278" y="0"/>
                </a:lnTo>
                <a:lnTo>
                  <a:pt x="12633278" y="8571964"/>
                </a:lnTo>
                <a:lnTo>
                  <a:pt x="0" y="85719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69104" y="1510461"/>
            <a:ext cx="11974848" cy="6825664"/>
          </a:xfrm>
          <a:custGeom>
            <a:avLst/>
            <a:gdLst/>
            <a:ahLst/>
            <a:cxnLst/>
            <a:rect r="r" b="b" t="t" l="l"/>
            <a:pathLst>
              <a:path h="6825664" w="11974848">
                <a:moveTo>
                  <a:pt x="0" y="0"/>
                </a:moveTo>
                <a:lnTo>
                  <a:pt x="11974848" y="0"/>
                </a:lnTo>
                <a:lnTo>
                  <a:pt x="11974848" y="6825663"/>
                </a:lnTo>
                <a:lnTo>
                  <a:pt x="0" y="68256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7" r="0" b="-2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88356" y="6115341"/>
            <a:ext cx="2218886" cy="4114800"/>
          </a:xfrm>
          <a:custGeom>
            <a:avLst/>
            <a:gdLst/>
            <a:ahLst/>
            <a:cxnLst/>
            <a:rect r="r" b="b" t="t" l="l"/>
            <a:pathLst>
              <a:path h="4114800" w="2218886">
                <a:moveTo>
                  <a:pt x="0" y="0"/>
                </a:moveTo>
                <a:lnTo>
                  <a:pt x="2218885" y="0"/>
                </a:lnTo>
                <a:lnTo>
                  <a:pt x="221888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77306" y="2337273"/>
            <a:ext cx="12685683" cy="5612454"/>
          </a:xfrm>
          <a:custGeom>
            <a:avLst/>
            <a:gdLst/>
            <a:ahLst/>
            <a:cxnLst/>
            <a:rect r="r" b="b" t="t" l="l"/>
            <a:pathLst>
              <a:path h="5612454" w="12685683">
                <a:moveTo>
                  <a:pt x="0" y="0"/>
                </a:moveTo>
                <a:lnTo>
                  <a:pt x="12685684" y="0"/>
                </a:lnTo>
                <a:lnTo>
                  <a:pt x="12685684" y="5612454"/>
                </a:lnTo>
                <a:lnTo>
                  <a:pt x="0" y="56124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30337" y="6210152"/>
            <a:ext cx="2902804" cy="4114800"/>
          </a:xfrm>
          <a:custGeom>
            <a:avLst/>
            <a:gdLst/>
            <a:ahLst/>
            <a:cxnLst/>
            <a:rect r="r" b="b" t="t" l="l"/>
            <a:pathLst>
              <a:path h="4114800" w="2902804">
                <a:moveTo>
                  <a:pt x="0" y="0"/>
                </a:moveTo>
                <a:lnTo>
                  <a:pt x="2902804" y="0"/>
                </a:lnTo>
                <a:lnTo>
                  <a:pt x="29028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46509" y="2273641"/>
            <a:ext cx="13045379" cy="5412445"/>
          </a:xfrm>
          <a:custGeom>
            <a:avLst/>
            <a:gdLst/>
            <a:ahLst/>
            <a:cxnLst/>
            <a:rect r="r" b="b" t="t" l="l"/>
            <a:pathLst>
              <a:path h="5412445" w="13045379">
                <a:moveTo>
                  <a:pt x="0" y="0"/>
                </a:moveTo>
                <a:lnTo>
                  <a:pt x="13045380" y="0"/>
                </a:lnTo>
                <a:lnTo>
                  <a:pt x="13045380" y="5412444"/>
                </a:lnTo>
                <a:lnTo>
                  <a:pt x="0" y="54124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33107" y="1287866"/>
            <a:ext cx="11883272" cy="7109794"/>
          </a:xfrm>
          <a:custGeom>
            <a:avLst/>
            <a:gdLst/>
            <a:ahLst/>
            <a:cxnLst/>
            <a:rect r="r" b="b" t="t" l="l"/>
            <a:pathLst>
              <a:path h="7109794" w="11883272">
                <a:moveTo>
                  <a:pt x="0" y="0"/>
                </a:moveTo>
                <a:lnTo>
                  <a:pt x="11883272" y="0"/>
                </a:lnTo>
                <a:lnTo>
                  <a:pt x="11883272" y="7109794"/>
                </a:lnTo>
                <a:lnTo>
                  <a:pt x="0" y="71097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23710" y="1028700"/>
            <a:ext cx="9099994" cy="7777773"/>
          </a:xfrm>
          <a:custGeom>
            <a:avLst/>
            <a:gdLst/>
            <a:ahLst/>
            <a:cxnLst/>
            <a:rect r="r" b="b" t="t" l="l"/>
            <a:pathLst>
              <a:path h="7777773" w="9099994">
                <a:moveTo>
                  <a:pt x="0" y="0"/>
                </a:moveTo>
                <a:lnTo>
                  <a:pt x="9099994" y="0"/>
                </a:lnTo>
                <a:lnTo>
                  <a:pt x="9099994" y="7777773"/>
                </a:lnTo>
                <a:lnTo>
                  <a:pt x="0" y="77777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14966" y="1028700"/>
            <a:ext cx="12793898" cy="7468438"/>
          </a:xfrm>
          <a:custGeom>
            <a:avLst/>
            <a:gdLst/>
            <a:ahLst/>
            <a:cxnLst/>
            <a:rect r="r" b="b" t="t" l="l"/>
            <a:pathLst>
              <a:path h="7468438" w="12793898">
                <a:moveTo>
                  <a:pt x="0" y="0"/>
                </a:moveTo>
                <a:lnTo>
                  <a:pt x="12793898" y="0"/>
                </a:lnTo>
                <a:lnTo>
                  <a:pt x="12793898" y="7468438"/>
                </a:lnTo>
                <a:lnTo>
                  <a:pt x="0" y="74684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678" y="6032381"/>
            <a:ext cx="2506287" cy="4114800"/>
          </a:xfrm>
          <a:custGeom>
            <a:avLst/>
            <a:gdLst/>
            <a:ahLst/>
            <a:cxnLst/>
            <a:rect r="r" b="b" t="t" l="l"/>
            <a:pathLst>
              <a:path h="4114800" w="2506287">
                <a:moveTo>
                  <a:pt x="0" y="0"/>
                </a:moveTo>
                <a:lnTo>
                  <a:pt x="2506288" y="0"/>
                </a:lnTo>
                <a:lnTo>
                  <a:pt x="250628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50694" y="1669456"/>
            <a:ext cx="11766308" cy="7223381"/>
          </a:xfrm>
          <a:custGeom>
            <a:avLst/>
            <a:gdLst/>
            <a:ahLst/>
            <a:cxnLst/>
            <a:rect r="r" b="b" t="t" l="l"/>
            <a:pathLst>
              <a:path h="7223381" w="11766308">
                <a:moveTo>
                  <a:pt x="0" y="0"/>
                </a:moveTo>
                <a:lnTo>
                  <a:pt x="11766308" y="0"/>
                </a:lnTo>
                <a:lnTo>
                  <a:pt x="11766308" y="7223381"/>
                </a:lnTo>
                <a:lnTo>
                  <a:pt x="0" y="72233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03418" y="7559174"/>
            <a:ext cx="3957689" cy="4114800"/>
          </a:xfrm>
          <a:custGeom>
            <a:avLst/>
            <a:gdLst/>
            <a:ahLst/>
            <a:cxnLst/>
            <a:rect r="r" b="b" t="t" l="l"/>
            <a:pathLst>
              <a:path h="4114800" w="3957689">
                <a:moveTo>
                  <a:pt x="0" y="0"/>
                </a:moveTo>
                <a:lnTo>
                  <a:pt x="3957689" y="0"/>
                </a:lnTo>
                <a:lnTo>
                  <a:pt x="395768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45257" y="1927590"/>
            <a:ext cx="10139037" cy="6767807"/>
          </a:xfrm>
          <a:custGeom>
            <a:avLst/>
            <a:gdLst/>
            <a:ahLst/>
            <a:cxnLst/>
            <a:rect r="r" b="b" t="t" l="l"/>
            <a:pathLst>
              <a:path h="6767807" w="10139037">
                <a:moveTo>
                  <a:pt x="0" y="0"/>
                </a:moveTo>
                <a:lnTo>
                  <a:pt x="10139037" y="0"/>
                </a:lnTo>
                <a:lnTo>
                  <a:pt x="10139037" y="6767807"/>
                </a:lnTo>
                <a:lnTo>
                  <a:pt x="0" y="67678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34556" y="6000777"/>
            <a:ext cx="3463913" cy="4114800"/>
          </a:xfrm>
          <a:custGeom>
            <a:avLst/>
            <a:gdLst/>
            <a:ahLst/>
            <a:cxnLst/>
            <a:rect r="r" b="b" t="t" l="l"/>
            <a:pathLst>
              <a:path h="4114800" w="3463913">
                <a:moveTo>
                  <a:pt x="0" y="0"/>
                </a:moveTo>
                <a:lnTo>
                  <a:pt x="3463914" y="0"/>
                </a:lnTo>
                <a:lnTo>
                  <a:pt x="3463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3512" y="5544849"/>
            <a:ext cx="17799886" cy="4742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0"/>
              </a:lnSpc>
            </a:pPr>
            <a:r>
              <a:rPr lang="en-US" sz="337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337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rithmetic Operations</a:t>
            </a:r>
          </a:p>
          <a:p>
            <a:pPr algn="l">
              <a:lnSpc>
                <a:spcPts val="4720"/>
              </a:lnSpc>
            </a:pPr>
            <a:r>
              <a:rPr lang="en-US" sz="337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These operations perform mathematical calculations.</a:t>
            </a:r>
          </a:p>
          <a:p>
            <a:pPr algn="l" marL="728023" indent="-364012" lvl="1">
              <a:lnSpc>
                <a:spcPts val="4720"/>
              </a:lnSpc>
              <a:buFont typeface="Arial"/>
              <a:buChar char="•"/>
            </a:pPr>
            <a:r>
              <a:rPr lang="en-US" sz="337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337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ddition (ADD)</a:t>
            </a:r>
          </a:p>
          <a:p>
            <a:pPr algn="l" marL="728023" indent="-364012" lvl="1">
              <a:lnSpc>
                <a:spcPts val="4720"/>
              </a:lnSpc>
              <a:buFont typeface="Arial"/>
              <a:buChar char="•"/>
            </a:pPr>
            <a:r>
              <a:rPr lang="en-US" sz="337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Subtraction (SUB)</a:t>
            </a:r>
          </a:p>
          <a:p>
            <a:pPr algn="l" marL="728023" indent="-364012" lvl="1">
              <a:lnSpc>
                <a:spcPts val="4720"/>
              </a:lnSpc>
              <a:buFont typeface="Arial"/>
              <a:buChar char="•"/>
            </a:pPr>
            <a:r>
              <a:rPr lang="en-US" sz="337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Multiplication (MUL)</a:t>
            </a:r>
          </a:p>
          <a:p>
            <a:pPr algn="l" marL="728023" indent="-364012" lvl="1">
              <a:lnSpc>
                <a:spcPts val="4720"/>
              </a:lnSpc>
              <a:buFont typeface="Arial"/>
              <a:buChar char="•"/>
            </a:pPr>
            <a:r>
              <a:rPr lang="en-US" sz="337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Division (DIV)</a:t>
            </a:r>
          </a:p>
          <a:p>
            <a:pPr algn="l" marL="728023" indent="-364012" lvl="1">
              <a:lnSpc>
                <a:spcPts val="4720"/>
              </a:lnSpc>
              <a:buFont typeface="Arial"/>
              <a:buChar char="•"/>
            </a:pPr>
            <a:r>
              <a:rPr lang="en-US" sz="337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Increment (INC) &amp; Decrement (DEC)</a:t>
            </a:r>
          </a:p>
          <a:p>
            <a:pPr algn="l">
              <a:lnSpc>
                <a:spcPts val="4720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867838" y="6269410"/>
            <a:ext cx="2478250" cy="4114800"/>
          </a:xfrm>
          <a:custGeom>
            <a:avLst/>
            <a:gdLst/>
            <a:ahLst/>
            <a:cxnLst/>
            <a:rect r="r" b="b" t="t" l="l"/>
            <a:pathLst>
              <a:path h="4114800" w="2478250">
                <a:moveTo>
                  <a:pt x="0" y="0"/>
                </a:moveTo>
                <a:lnTo>
                  <a:pt x="2478251" y="0"/>
                </a:lnTo>
                <a:lnTo>
                  <a:pt x="24782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36858" y="574778"/>
            <a:ext cx="396240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Types of Operation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88114" y="1781606"/>
            <a:ext cx="17799886" cy="3551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0"/>
              </a:lnSpc>
            </a:pPr>
            <a:r>
              <a:rPr lang="en-US" sz="337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Data Transfer Operations</a:t>
            </a:r>
          </a:p>
          <a:p>
            <a:pPr algn="l">
              <a:lnSpc>
                <a:spcPts val="4720"/>
              </a:lnSpc>
            </a:pPr>
            <a:r>
              <a:rPr lang="en-US" sz="337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These operations move data between memory, registers, and input/output devices.</a:t>
            </a:r>
          </a:p>
          <a:p>
            <a:pPr algn="l" marL="728023" indent="-364012" lvl="1">
              <a:lnSpc>
                <a:spcPts val="4720"/>
              </a:lnSpc>
              <a:buFont typeface="Arial"/>
              <a:buChar char="•"/>
            </a:pPr>
            <a:r>
              <a:rPr lang="en-US" sz="337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Load (LD) – Move data from memory to a register.</a:t>
            </a:r>
          </a:p>
          <a:p>
            <a:pPr algn="l" marL="728023" indent="-364012" lvl="1">
              <a:lnSpc>
                <a:spcPts val="4720"/>
              </a:lnSpc>
              <a:buFont typeface="Arial"/>
              <a:buChar char="•"/>
            </a:pPr>
            <a:r>
              <a:rPr lang="en-US" sz="337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Store (ST) – Move data from a register to memory.</a:t>
            </a:r>
          </a:p>
          <a:p>
            <a:pPr algn="l" marL="728023" indent="-364012" lvl="1">
              <a:lnSpc>
                <a:spcPts val="4720"/>
              </a:lnSpc>
              <a:buFont typeface="Arial"/>
              <a:buChar char="•"/>
            </a:pPr>
            <a:r>
              <a:rPr lang="en-US" sz="337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Move (MOV) – Transfer data between registers.</a:t>
            </a:r>
          </a:p>
          <a:p>
            <a:pPr algn="l" marL="728023" indent="-364012" lvl="1">
              <a:lnSpc>
                <a:spcPts val="4720"/>
              </a:lnSpc>
              <a:buFont typeface="Arial"/>
              <a:buChar char="•"/>
            </a:pPr>
            <a:r>
              <a:rPr lang="en-US" sz="337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Push &amp; Pop – Stack operations for saving/restoring values.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330573" y="6194350"/>
            <a:ext cx="2685842" cy="4114800"/>
          </a:xfrm>
          <a:custGeom>
            <a:avLst/>
            <a:gdLst/>
            <a:ahLst/>
            <a:cxnLst/>
            <a:rect r="r" b="b" t="t" l="l"/>
            <a:pathLst>
              <a:path h="4114800" w="2685842">
                <a:moveTo>
                  <a:pt x="0" y="0"/>
                </a:moveTo>
                <a:lnTo>
                  <a:pt x="2685842" y="0"/>
                </a:lnTo>
                <a:lnTo>
                  <a:pt x="26858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84833" y="708267"/>
            <a:ext cx="12555351" cy="418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Logical Operations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These operations perform bitwise logic on binary values.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AND – Bitwise AND operation.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OR – Bitwise OR operation.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XOR – Bitwise XOR (exclusive OR).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NOT – Bitwise negation.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Shift (SHL, SHR) – Left and right shift operations.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84833" y="5506085"/>
            <a:ext cx="14542799" cy="478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ontrol Operations (Branching &amp; Jumping)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These operations change the flow of execution in a program.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Jump (JMP)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– Unconditional jump to another instruction.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Branch (BEQ, BNE, etc.) – Conditional jumps based on comparison results.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Call &amp; Return (CALL, RET) – Used for function calls.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Looping Instructions – Iterative execution of instructions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62413" y="6210152"/>
            <a:ext cx="2325340" cy="4114800"/>
          </a:xfrm>
          <a:custGeom>
            <a:avLst/>
            <a:gdLst/>
            <a:ahLst/>
            <a:cxnLst/>
            <a:rect r="r" b="b" t="t" l="l"/>
            <a:pathLst>
              <a:path h="4114800" w="2325340">
                <a:moveTo>
                  <a:pt x="0" y="0"/>
                </a:moveTo>
                <a:lnTo>
                  <a:pt x="2325341" y="0"/>
                </a:lnTo>
                <a:lnTo>
                  <a:pt x="23253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3512" y="554718"/>
            <a:ext cx="14542799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omparison Operations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These operations compare values and set flags for decision-making.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Compare (CMP)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– Compares two values.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Test (TEST) – Similar to CMP but for logical conditions.</a:t>
            </a:r>
          </a:p>
          <a:p>
            <a:pPr algn="l">
              <a:lnSpc>
                <a:spcPts val="475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583512" y="3743939"/>
            <a:ext cx="14542799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Bit Mani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pulation Operations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These are used for modifying specific bits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in a word.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Set, Clear, Toggle Bits (SET, CLR, TGL)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Rotate (ROL, ROR)</a:t>
            </a:r>
          </a:p>
          <a:p>
            <a:pPr algn="l">
              <a:lnSpc>
                <a:spcPts val="475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583512" y="6503871"/>
            <a:ext cx="14542799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Input/Out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put Operations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These operations manage data exchange with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external devices.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 – R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ead data from an input port.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OUT – Send data to an output port.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19250" y="6162747"/>
            <a:ext cx="3970632" cy="4114800"/>
          </a:xfrm>
          <a:custGeom>
            <a:avLst/>
            <a:gdLst/>
            <a:ahLst/>
            <a:cxnLst/>
            <a:rect r="r" b="b" t="t" l="l"/>
            <a:pathLst>
              <a:path h="4114800" w="3970632">
                <a:moveTo>
                  <a:pt x="0" y="0"/>
                </a:moveTo>
                <a:lnTo>
                  <a:pt x="3970632" y="0"/>
                </a:lnTo>
                <a:lnTo>
                  <a:pt x="397063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44952" y="1562735"/>
            <a:ext cx="16514348" cy="358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System Control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Operations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These are privileged operations that control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system behavior.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HALT (HLT) – Stops the CPU.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NOP (No Op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eration) – Does nothing but advances the instruction pointer.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Interrupt (INT) – Handles system calls or hardware interrupts.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23327" y="7333833"/>
            <a:ext cx="1661157" cy="2953167"/>
          </a:xfrm>
          <a:custGeom>
            <a:avLst/>
            <a:gdLst/>
            <a:ahLst/>
            <a:cxnLst/>
            <a:rect r="r" b="b" t="t" l="l"/>
            <a:pathLst>
              <a:path h="2953167" w="1661157">
                <a:moveTo>
                  <a:pt x="0" y="0"/>
                </a:moveTo>
                <a:lnTo>
                  <a:pt x="1661157" y="0"/>
                </a:lnTo>
                <a:lnTo>
                  <a:pt x="1661157" y="2953167"/>
                </a:lnTo>
                <a:lnTo>
                  <a:pt x="0" y="29531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1416" y="971550"/>
            <a:ext cx="16797884" cy="8508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9"/>
              </a:lnSpc>
            </a:pPr>
            <a:r>
              <a:rPr lang="en-US" sz="289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Types of Bus in Computer</a:t>
            </a:r>
            <a:r>
              <a:rPr lang="en-US" sz="289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Architecture</a:t>
            </a:r>
          </a:p>
          <a:p>
            <a:pPr algn="l">
              <a:lnSpc>
                <a:spcPts val="4049"/>
              </a:lnSpc>
            </a:pPr>
          </a:p>
          <a:p>
            <a:pPr algn="l" marL="624483" indent="-312242" lvl="1">
              <a:lnSpc>
                <a:spcPts val="6970"/>
              </a:lnSpc>
              <a:buFont typeface="Arial"/>
              <a:buChar char="•"/>
            </a:pPr>
            <a:r>
              <a:rPr lang="en-US" sz="289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Data Bus – Transfers actual data between CPU, memory, and I/O devices (bi-directional).</a:t>
            </a:r>
          </a:p>
          <a:p>
            <a:pPr algn="l" marL="624483" indent="-312242" lvl="1">
              <a:lnSpc>
                <a:spcPts val="6970"/>
              </a:lnSpc>
              <a:buFont typeface="Arial"/>
              <a:buChar char="•"/>
            </a:pPr>
            <a:r>
              <a:rPr lang="en-US" sz="289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Address Bus – Carries memory addresses from CPU to memory/I/O (uni-directional).</a:t>
            </a:r>
          </a:p>
          <a:p>
            <a:pPr algn="l" marL="624483" indent="-312242" lvl="1">
              <a:lnSpc>
                <a:spcPts val="6970"/>
              </a:lnSpc>
              <a:buFont typeface="Arial"/>
              <a:buChar char="•"/>
            </a:pPr>
            <a:r>
              <a:rPr lang="en-US" sz="289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Control Bus – Sends control signals for coordinating operations (read, write, interrupts).</a:t>
            </a:r>
          </a:p>
          <a:p>
            <a:pPr algn="l" marL="624483" indent="-312242" lvl="1">
              <a:lnSpc>
                <a:spcPts val="6970"/>
              </a:lnSpc>
              <a:buFont typeface="Arial"/>
              <a:buChar char="•"/>
            </a:pPr>
            <a:r>
              <a:rPr lang="en-US" sz="289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System Bus – A combination of data, address, and control buses for internal communication.</a:t>
            </a:r>
          </a:p>
          <a:p>
            <a:pPr algn="l" marL="624483" indent="-312242" lvl="1">
              <a:lnSpc>
                <a:spcPts val="6970"/>
              </a:lnSpc>
              <a:buFont typeface="Arial"/>
              <a:buChar char="•"/>
            </a:pPr>
            <a:r>
              <a:rPr lang="en-US" sz="289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I/O Bus – Connects external devices like USB, PCIe, and SATA.</a:t>
            </a:r>
          </a:p>
          <a:p>
            <a:pPr algn="l" marL="624483" indent="-312242" lvl="1">
              <a:lnSpc>
                <a:spcPts val="6970"/>
              </a:lnSpc>
              <a:buFont typeface="Arial"/>
              <a:buChar char="•"/>
            </a:pPr>
            <a:r>
              <a:rPr lang="en-US" sz="289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Memory Bus – High-speed link between CPU and RAM for fast memory access.</a:t>
            </a:r>
          </a:p>
          <a:p>
            <a:pPr algn="l" marL="624483" indent="-312242" lvl="1">
              <a:lnSpc>
                <a:spcPts val="6970"/>
              </a:lnSpc>
              <a:buFont typeface="Arial"/>
              <a:buChar char="•"/>
            </a:pPr>
            <a:r>
              <a:rPr lang="en-US" sz="289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Parallel Bus – Transfers multiple bits simultaneously for short distances.</a:t>
            </a:r>
          </a:p>
          <a:p>
            <a:pPr algn="l">
              <a:lnSpc>
                <a:spcPts val="4049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683545"/>
            <a:ext cx="13716000" cy="3581400"/>
            <a:chOff x="0" y="0"/>
            <a:chExt cx="18288000" cy="477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4775200"/>
            </a:xfrm>
            <a:custGeom>
              <a:avLst/>
              <a:gdLst/>
              <a:ahLst/>
              <a:cxnLst/>
              <a:rect r="r" b="b" t="t" l="l"/>
              <a:pathLst>
                <a:path h="4775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775200"/>
                  </a:lnTo>
                  <a:lnTo>
                    <a:pt x="0" y="4775200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8288000" cy="486092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9000">
                  <a:solidFill>
                    <a:srgbClr val="FF0000"/>
                  </a:solidFill>
                  <a:latin typeface="Calibri (MS) Light"/>
                  <a:ea typeface="Calibri (MS) Light"/>
                  <a:cs typeface="Calibri (MS) Light"/>
                  <a:sym typeface="Calibri (MS) Light"/>
                </a:rPr>
                <a:t>Intro to Registers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9386891" y="2825829"/>
            <a:ext cx="8429625" cy="5014912"/>
            <a:chOff x="0" y="0"/>
            <a:chExt cx="11239500" cy="6686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239500" cy="6686550"/>
            </a:xfrm>
            <a:custGeom>
              <a:avLst/>
              <a:gdLst/>
              <a:ahLst/>
              <a:cxnLst/>
              <a:rect r="r" b="b" t="t" l="l"/>
              <a:pathLst>
                <a:path h="6686550" w="11239500">
                  <a:moveTo>
                    <a:pt x="0" y="0"/>
                  </a:moveTo>
                  <a:lnTo>
                    <a:pt x="11239500" y="0"/>
                  </a:lnTo>
                  <a:lnTo>
                    <a:pt x="11239500" y="6686550"/>
                  </a:lnTo>
                  <a:lnTo>
                    <a:pt x="0" y="6686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677805" y="2519265"/>
            <a:ext cx="7537507" cy="6145083"/>
            <a:chOff x="0" y="0"/>
            <a:chExt cx="10050010" cy="81934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050018" cy="8193405"/>
            </a:xfrm>
            <a:custGeom>
              <a:avLst/>
              <a:gdLst/>
              <a:ahLst/>
              <a:cxnLst/>
              <a:rect r="r" b="b" t="t" l="l"/>
              <a:pathLst>
                <a:path h="8193405" w="10050018">
                  <a:moveTo>
                    <a:pt x="0" y="0"/>
                  </a:moveTo>
                  <a:lnTo>
                    <a:pt x="10050018" y="0"/>
                  </a:lnTo>
                  <a:lnTo>
                    <a:pt x="10050018" y="8193405"/>
                  </a:lnTo>
                  <a:lnTo>
                    <a:pt x="0" y="81934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-10800000">
            <a:off x="8080116" y="4133266"/>
            <a:ext cx="1768539" cy="745998"/>
            <a:chOff x="0" y="0"/>
            <a:chExt cx="2358052" cy="9946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2700" y="12700"/>
              <a:ext cx="2332736" cy="969264"/>
            </a:xfrm>
            <a:custGeom>
              <a:avLst/>
              <a:gdLst/>
              <a:ahLst/>
              <a:cxnLst/>
              <a:rect r="r" b="b" t="t" l="l"/>
              <a:pathLst>
                <a:path h="969264" w="2332736">
                  <a:moveTo>
                    <a:pt x="0" y="242316"/>
                  </a:moveTo>
                  <a:lnTo>
                    <a:pt x="1840738" y="242316"/>
                  </a:lnTo>
                  <a:lnTo>
                    <a:pt x="1840738" y="0"/>
                  </a:lnTo>
                  <a:lnTo>
                    <a:pt x="2332736" y="484632"/>
                  </a:lnTo>
                  <a:lnTo>
                    <a:pt x="1840738" y="969264"/>
                  </a:lnTo>
                  <a:lnTo>
                    <a:pt x="1840738" y="726948"/>
                  </a:lnTo>
                  <a:lnTo>
                    <a:pt x="0" y="726948"/>
                  </a:lnTo>
                  <a:close/>
                </a:path>
              </a:pathLst>
            </a:custGeom>
            <a:solidFill>
              <a:srgbClr val="C0000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71"/>
              <a:ext cx="2358136" cy="994579"/>
            </a:xfrm>
            <a:custGeom>
              <a:avLst/>
              <a:gdLst/>
              <a:ahLst/>
              <a:cxnLst/>
              <a:rect r="r" b="b" t="t" l="l"/>
              <a:pathLst>
                <a:path h="994579" w="2358136">
                  <a:moveTo>
                    <a:pt x="12700" y="242245"/>
                  </a:moveTo>
                  <a:lnTo>
                    <a:pt x="1853438" y="242245"/>
                  </a:lnTo>
                  <a:lnTo>
                    <a:pt x="1853438" y="254945"/>
                  </a:lnTo>
                  <a:lnTo>
                    <a:pt x="1840738" y="254945"/>
                  </a:lnTo>
                  <a:lnTo>
                    <a:pt x="1840738" y="12629"/>
                  </a:lnTo>
                  <a:cubicBezTo>
                    <a:pt x="1840738" y="7549"/>
                    <a:pt x="1843786" y="2850"/>
                    <a:pt x="1848485" y="945"/>
                  </a:cubicBezTo>
                  <a:cubicBezTo>
                    <a:pt x="1853184" y="-960"/>
                    <a:pt x="1858645" y="56"/>
                    <a:pt x="1862328" y="3612"/>
                  </a:cubicBezTo>
                  <a:lnTo>
                    <a:pt x="2354326" y="488244"/>
                  </a:lnTo>
                  <a:cubicBezTo>
                    <a:pt x="2356739" y="490657"/>
                    <a:pt x="2358136" y="493832"/>
                    <a:pt x="2358136" y="497261"/>
                  </a:cubicBezTo>
                  <a:cubicBezTo>
                    <a:pt x="2358136" y="500690"/>
                    <a:pt x="2356739" y="503865"/>
                    <a:pt x="2354326" y="506278"/>
                  </a:cubicBezTo>
                  <a:lnTo>
                    <a:pt x="1862328" y="990910"/>
                  </a:lnTo>
                  <a:cubicBezTo>
                    <a:pt x="1858645" y="994466"/>
                    <a:pt x="1853184" y="995609"/>
                    <a:pt x="1848485" y="993577"/>
                  </a:cubicBezTo>
                  <a:cubicBezTo>
                    <a:pt x="1843786" y="991545"/>
                    <a:pt x="1840738" y="986973"/>
                    <a:pt x="1840738" y="981893"/>
                  </a:cubicBezTo>
                  <a:lnTo>
                    <a:pt x="1840738" y="739577"/>
                  </a:lnTo>
                  <a:lnTo>
                    <a:pt x="1853438" y="739577"/>
                  </a:lnTo>
                  <a:lnTo>
                    <a:pt x="1853438" y="752277"/>
                  </a:lnTo>
                  <a:lnTo>
                    <a:pt x="12700" y="752277"/>
                  </a:lnTo>
                  <a:cubicBezTo>
                    <a:pt x="5715" y="752277"/>
                    <a:pt x="0" y="746562"/>
                    <a:pt x="0" y="739577"/>
                  </a:cubicBezTo>
                  <a:lnTo>
                    <a:pt x="0" y="254945"/>
                  </a:lnTo>
                  <a:cubicBezTo>
                    <a:pt x="0" y="247960"/>
                    <a:pt x="5715" y="242245"/>
                    <a:pt x="12700" y="242245"/>
                  </a:cubicBezTo>
                  <a:moveTo>
                    <a:pt x="12700" y="267645"/>
                  </a:moveTo>
                  <a:lnTo>
                    <a:pt x="12700" y="254945"/>
                  </a:lnTo>
                  <a:lnTo>
                    <a:pt x="25400" y="254945"/>
                  </a:lnTo>
                  <a:lnTo>
                    <a:pt x="25400" y="739577"/>
                  </a:lnTo>
                  <a:lnTo>
                    <a:pt x="12700" y="739577"/>
                  </a:lnTo>
                  <a:lnTo>
                    <a:pt x="12700" y="726877"/>
                  </a:lnTo>
                  <a:lnTo>
                    <a:pt x="1853438" y="726877"/>
                  </a:lnTo>
                  <a:cubicBezTo>
                    <a:pt x="1860423" y="726877"/>
                    <a:pt x="1866138" y="732592"/>
                    <a:pt x="1866138" y="739577"/>
                  </a:cubicBezTo>
                  <a:lnTo>
                    <a:pt x="1866138" y="981893"/>
                  </a:lnTo>
                  <a:lnTo>
                    <a:pt x="1853438" y="981893"/>
                  </a:lnTo>
                  <a:lnTo>
                    <a:pt x="1844548" y="972876"/>
                  </a:lnTo>
                  <a:lnTo>
                    <a:pt x="2336546" y="488244"/>
                  </a:lnTo>
                  <a:lnTo>
                    <a:pt x="2345436" y="497261"/>
                  </a:lnTo>
                  <a:lnTo>
                    <a:pt x="2336546" y="506278"/>
                  </a:lnTo>
                  <a:lnTo>
                    <a:pt x="1844421" y="21646"/>
                  </a:lnTo>
                  <a:lnTo>
                    <a:pt x="1853311" y="12629"/>
                  </a:lnTo>
                  <a:lnTo>
                    <a:pt x="1866011" y="12629"/>
                  </a:lnTo>
                  <a:lnTo>
                    <a:pt x="1866011" y="254945"/>
                  </a:lnTo>
                  <a:cubicBezTo>
                    <a:pt x="1866011" y="261930"/>
                    <a:pt x="1860296" y="267645"/>
                    <a:pt x="1853311" y="267645"/>
                  </a:cubicBezTo>
                  <a:lnTo>
                    <a:pt x="12700" y="267645"/>
                  </a:lnTo>
                  <a:close/>
                </a:path>
              </a:pathLst>
            </a:custGeom>
            <a:solidFill>
              <a:srgbClr val="2F528F"/>
            </a:solidFill>
          </p:spPr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089370" y="69996"/>
            <a:ext cx="15999648" cy="10217004"/>
            <a:chOff x="0" y="0"/>
            <a:chExt cx="21332864" cy="136226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332825" cy="13622655"/>
            </a:xfrm>
            <a:custGeom>
              <a:avLst/>
              <a:gdLst/>
              <a:ahLst/>
              <a:cxnLst/>
              <a:rect r="r" b="b" t="t" l="l"/>
              <a:pathLst>
                <a:path h="13622655" w="21332825">
                  <a:moveTo>
                    <a:pt x="0" y="0"/>
                  </a:moveTo>
                  <a:lnTo>
                    <a:pt x="21332825" y="0"/>
                  </a:lnTo>
                  <a:lnTo>
                    <a:pt x="21332825" y="13622655"/>
                  </a:lnTo>
                  <a:lnTo>
                    <a:pt x="0" y="136226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FF0000"/>
                  </a:solidFill>
                  <a:latin typeface="Calibri (MS) Light"/>
                  <a:ea typeface="Calibri (MS) Light"/>
                  <a:cs typeface="Calibri (MS) Light"/>
                  <a:sym typeface="Calibri (MS) Light"/>
                </a:rPr>
                <a:t>Basic general purpose registers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48740" y="2746058"/>
            <a:ext cx="15590520" cy="647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EAX 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EBX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ECX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EDX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FF0000"/>
                  </a:solidFill>
                  <a:latin typeface="Calibri (MS) Light"/>
                  <a:ea typeface="Calibri (MS) Light"/>
                  <a:cs typeface="Calibri (MS) Light"/>
                  <a:sym typeface="Calibri (MS) Light"/>
                </a:rPr>
                <a:t>Internal structure of each register (32-bit)</a:t>
              </a: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4263214" y="2536032"/>
            <a:ext cx="7858125" cy="1614488"/>
            <a:chOff x="0" y="0"/>
            <a:chExt cx="10477500" cy="21526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77500" cy="2152650"/>
            </a:xfrm>
            <a:custGeom>
              <a:avLst/>
              <a:gdLst/>
              <a:ahLst/>
              <a:cxnLst/>
              <a:rect r="r" b="b" t="t" l="l"/>
              <a:pathLst>
                <a:path h="2152650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2152650"/>
                  </a:lnTo>
                  <a:lnTo>
                    <a:pt x="0" y="2152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2888291" y="4663208"/>
            <a:ext cx="10607973" cy="4259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EAX is dword which is 4 bytes (32 bits)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AX is a word which is 2 bytes (16 bits)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AH is a byte (8 bits)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AL is also a byte (8 bits)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If EAX = 0x12345678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AX = 5678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AH = 56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AL = 78</a:t>
            </a:r>
          </a:p>
          <a:p>
            <a:pPr algn="l">
              <a:lnSpc>
                <a:spcPts val="3240"/>
              </a:lnSpc>
            </a:pP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FF0000"/>
                  </a:solidFill>
                  <a:latin typeface="Calibri (MS) Light"/>
                  <a:ea typeface="Calibri (MS) Light"/>
                  <a:cs typeface="Calibri (MS) Light"/>
                  <a:sym typeface="Calibri (MS) Light"/>
                </a:rPr>
                <a:t>Same for EBX, ECX, EDX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888291" y="4663208"/>
            <a:ext cx="10607973" cy="3012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For EBX,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If EBX = 0x12345678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BX = 5678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BH = 56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BL = 78</a:t>
            </a:r>
          </a:p>
          <a:p>
            <a:pPr algn="l">
              <a:lnSpc>
                <a:spcPts val="3240"/>
              </a:lnSpc>
            </a:pPr>
          </a:p>
        </p:txBody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4650290" y="2593368"/>
            <a:ext cx="7643812" cy="1528762"/>
            <a:chOff x="0" y="0"/>
            <a:chExt cx="10191750" cy="20383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91750" cy="2038350"/>
            </a:xfrm>
            <a:custGeom>
              <a:avLst/>
              <a:gdLst/>
              <a:ahLst/>
              <a:cxnLst/>
              <a:rect r="r" b="b" t="t" l="l"/>
              <a:pathLst>
                <a:path h="2038350" w="10191750">
                  <a:moveTo>
                    <a:pt x="0" y="0"/>
                  </a:moveTo>
                  <a:lnTo>
                    <a:pt x="10191750" y="0"/>
                  </a:lnTo>
                  <a:lnTo>
                    <a:pt x="10191750" y="2038350"/>
                  </a:lnTo>
                  <a:lnTo>
                    <a:pt x="0" y="2038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3434749" y="1428021"/>
            <a:ext cx="9384638" cy="7430958"/>
            <a:chOff x="0" y="0"/>
            <a:chExt cx="12512850" cy="99079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12802" cy="9907905"/>
            </a:xfrm>
            <a:custGeom>
              <a:avLst/>
              <a:gdLst/>
              <a:ahLst/>
              <a:cxnLst/>
              <a:rect r="r" b="b" t="t" l="l"/>
              <a:pathLst>
                <a:path h="9907905" w="12512802">
                  <a:moveTo>
                    <a:pt x="0" y="0"/>
                  </a:moveTo>
                  <a:lnTo>
                    <a:pt x="12512802" y="0"/>
                  </a:lnTo>
                  <a:lnTo>
                    <a:pt x="12512802" y="9907905"/>
                  </a:lnTo>
                  <a:lnTo>
                    <a:pt x="0" y="9907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FF0000"/>
                  </a:solidFill>
                  <a:latin typeface="Calibri (MS) Light"/>
                  <a:ea typeface="Calibri (MS) Light"/>
                  <a:cs typeface="Calibri (MS) Light"/>
                  <a:sym typeface="Calibri (MS) Light"/>
                </a:rPr>
                <a:t>64-bit registers</a:t>
              </a: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3820157" y="2308160"/>
            <a:ext cx="9444038" cy="2171700"/>
            <a:chOff x="0" y="0"/>
            <a:chExt cx="12592050" cy="2895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592050" cy="2895600"/>
            </a:xfrm>
            <a:custGeom>
              <a:avLst/>
              <a:gdLst/>
              <a:ahLst/>
              <a:cxnLst/>
              <a:rect r="r" b="b" t="t" l="l"/>
              <a:pathLst>
                <a:path h="2895600" w="12592050">
                  <a:moveTo>
                    <a:pt x="0" y="0"/>
                  </a:moveTo>
                  <a:lnTo>
                    <a:pt x="12592050" y="0"/>
                  </a:lnTo>
                  <a:lnTo>
                    <a:pt x="12592050" y="2895600"/>
                  </a:lnTo>
                  <a:lnTo>
                    <a:pt x="0" y="289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4114974" y="4920423"/>
            <a:ext cx="8963451" cy="3012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RAX is qword which is 8 bytes (64 bits)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EAX is a dword which is 4 bytes (32 bits)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AX is word which is 2 bytes (16 bits)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AH is a byte (8 bits)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AL is also a byte (8 bits)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FF0000"/>
                  </a:solidFill>
                  <a:latin typeface="Calibri (MS) Light"/>
                  <a:ea typeface="Calibri (MS) Light"/>
                  <a:cs typeface="Calibri (MS) Light"/>
                  <a:sym typeface="Calibri (MS) Light"/>
                </a:rPr>
                <a:t>ESI, EDI, EIP, ESP, EBP registers</a:t>
              </a: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9450743" y="2730699"/>
            <a:ext cx="5543550" cy="914400"/>
            <a:chOff x="0" y="0"/>
            <a:chExt cx="739140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391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391400">
                  <a:moveTo>
                    <a:pt x="0" y="0"/>
                  </a:moveTo>
                  <a:lnTo>
                    <a:pt x="7391400" y="0"/>
                  </a:lnTo>
                  <a:lnTo>
                    <a:pt x="73914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924905" y="2443341"/>
            <a:ext cx="5093582" cy="1350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String index registers: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ESI = Source Index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EDI = Destination Index</a:t>
            </a:r>
          </a:p>
        </p:txBody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9450743" y="5367435"/>
            <a:ext cx="5529263" cy="928688"/>
            <a:chOff x="0" y="0"/>
            <a:chExt cx="7372350" cy="1238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72350" cy="1238250"/>
            </a:xfrm>
            <a:custGeom>
              <a:avLst/>
              <a:gdLst/>
              <a:ahLst/>
              <a:cxnLst/>
              <a:rect r="r" b="b" t="t" l="l"/>
              <a:pathLst>
                <a:path h="1238250" w="7372350">
                  <a:moveTo>
                    <a:pt x="0" y="0"/>
                  </a:moveTo>
                  <a:lnTo>
                    <a:pt x="7372350" y="0"/>
                  </a:lnTo>
                  <a:lnTo>
                    <a:pt x="7372350" y="1238250"/>
                  </a:lnTo>
                  <a:lnTo>
                    <a:pt x="0" y="1238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700970" y="5132070"/>
            <a:ext cx="5093582" cy="1350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Instruction pointer: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EIP indicates the memory current address of current instruction</a:t>
            </a:r>
          </a:p>
        </p:txBody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9450743" y="7282687"/>
            <a:ext cx="5514975" cy="900112"/>
            <a:chOff x="0" y="0"/>
            <a:chExt cx="7353300" cy="12001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53300" cy="1200150"/>
            </a:xfrm>
            <a:custGeom>
              <a:avLst/>
              <a:gdLst/>
              <a:ahLst/>
              <a:cxnLst/>
              <a:rect r="r" b="b" t="t" l="l"/>
              <a:pathLst>
                <a:path h="1200150" w="7353300">
                  <a:moveTo>
                    <a:pt x="0" y="0"/>
                  </a:moveTo>
                  <a:lnTo>
                    <a:pt x="7353300" y="0"/>
                  </a:lnTo>
                  <a:lnTo>
                    <a:pt x="7353300" y="1200150"/>
                  </a:lnTo>
                  <a:lnTo>
                    <a:pt x="0" y="1200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803608" y="7164696"/>
            <a:ext cx="5093582" cy="1350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Stack Frame Pointers: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ESP = address of top of stack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EBP = address of bottom of stack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5276463" y="824445"/>
            <a:ext cx="6116361" cy="8302208"/>
            <a:chOff x="0" y="0"/>
            <a:chExt cx="8155148" cy="110696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55178" cy="11069574"/>
            </a:xfrm>
            <a:custGeom>
              <a:avLst/>
              <a:gdLst/>
              <a:ahLst/>
              <a:cxnLst/>
              <a:rect r="r" b="b" t="t" l="l"/>
              <a:pathLst>
                <a:path h="11069574" w="8155178">
                  <a:moveTo>
                    <a:pt x="0" y="0"/>
                  </a:moveTo>
                  <a:lnTo>
                    <a:pt x="8155178" y="0"/>
                  </a:lnTo>
                  <a:lnTo>
                    <a:pt x="8155178" y="11069574"/>
                  </a:lnTo>
                  <a:lnTo>
                    <a:pt x="0" y="110695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35876" y="4652327"/>
            <a:ext cx="141624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683545"/>
            <a:ext cx="13716000" cy="3581400"/>
            <a:chOff x="0" y="0"/>
            <a:chExt cx="18288000" cy="477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4775200"/>
            </a:xfrm>
            <a:custGeom>
              <a:avLst/>
              <a:gdLst/>
              <a:ahLst/>
              <a:cxnLst/>
              <a:rect r="r" b="b" t="t" l="l"/>
              <a:pathLst>
                <a:path h="4775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775200"/>
                  </a:lnTo>
                  <a:lnTo>
                    <a:pt x="0" y="4775200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8288000" cy="486092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9000">
                  <a:solidFill>
                    <a:srgbClr val="FF0000"/>
                  </a:solidFill>
                  <a:latin typeface="Calibri (MS) Light"/>
                  <a:ea typeface="Calibri (MS) Light"/>
                  <a:cs typeface="Calibri (MS) Light"/>
                  <a:sym typeface="Calibri (MS) Light"/>
                </a:rPr>
                <a:t>MOV Instructions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48740" y="1536617"/>
            <a:ext cx="15590520" cy="7683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MOV Destination, Source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Copies data from Source to Destination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Example:</a:t>
            </a:r>
          </a:p>
          <a:p>
            <a:pPr algn="l" marL="1337310" indent="-445770" lvl="2">
              <a:lnSpc>
                <a:spcPts val="3888"/>
              </a:lnSpc>
              <a:buFont typeface="Arial"/>
              <a:buChar char="⚬"/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mov eax,  0x3A</a:t>
            </a:r>
          </a:p>
          <a:p>
            <a:pPr algn="l" marL="1337310" indent="-445770" lvl="2">
              <a:lnSpc>
                <a:spcPts val="3888"/>
              </a:lnSpc>
              <a:buFont typeface="Arial"/>
              <a:buChar char="⚬"/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mov al, 0x8</a:t>
            </a:r>
          </a:p>
          <a:p>
            <a:pPr algn="l" marL="1337310" indent="-445770" lvl="2">
              <a:lnSpc>
                <a:spcPts val="3888"/>
              </a:lnSpc>
              <a:buFont typeface="Arial"/>
              <a:buChar char="⚬"/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mov  ebx, eax</a:t>
            </a:r>
          </a:p>
          <a:p>
            <a:pPr algn="l" marL="1337310" indent="-445770" lvl="2">
              <a:lnSpc>
                <a:spcPts val="3888"/>
              </a:lnSpc>
              <a:buFont typeface="Arial"/>
              <a:buChar char="⚬"/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mov cx, bx</a:t>
            </a:r>
          </a:p>
          <a:p>
            <a:pPr algn="l" marL="1337310" indent="-445770" lvl="2">
              <a:lnSpc>
                <a:spcPts val="3888"/>
              </a:lnSpc>
              <a:buFont typeface="Arial"/>
              <a:buChar char="⚬"/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mov ah, cl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683545"/>
            <a:ext cx="13716000" cy="3581400"/>
            <a:chOff x="0" y="0"/>
            <a:chExt cx="18288000" cy="477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4775200"/>
            </a:xfrm>
            <a:custGeom>
              <a:avLst/>
              <a:gdLst/>
              <a:ahLst/>
              <a:cxnLst/>
              <a:rect r="r" b="b" t="t" l="l"/>
              <a:pathLst>
                <a:path h="4775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775200"/>
                  </a:lnTo>
                  <a:lnTo>
                    <a:pt x="0" y="4775200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8288000" cy="486092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9000">
                  <a:solidFill>
                    <a:srgbClr val="FF0000"/>
                  </a:solidFill>
                  <a:latin typeface="Calibri (MS) Light"/>
                  <a:ea typeface="Calibri (MS) Light"/>
                  <a:cs typeface="Calibri (MS) Light"/>
                  <a:sym typeface="Calibri (MS) Light"/>
                </a:rPr>
                <a:t>Basic Arithmetic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FF0000"/>
                  </a:solidFill>
                  <a:latin typeface="Calibri (MS) Light"/>
                  <a:ea typeface="Calibri (MS) Light"/>
                  <a:cs typeface="Calibri (MS) Light"/>
                  <a:sym typeface="Calibri (MS) Light"/>
                </a:rPr>
                <a:t>Examples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48740" y="2746058"/>
            <a:ext cx="15590520" cy="647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ADD destination, source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Destination  destination + source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add eax, ecx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add edi, 0x2A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add cx, si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FF0000"/>
                  </a:solidFill>
                  <a:latin typeface="Calibri (MS) Light"/>
                  <a:ea typeface="Calibri (MS) Light"/>
                  <a:cs typeface="Calibri (MS) Light"/>
                  <a:sym typeface="Calibri (MS) Light"/>
                </a:rPr>
                <a:t>Dword registers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48740" y="2746058"/>
            <a:ext cx="15590520" cy="647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mov esi, 0x1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mov eax, 0x2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mov ebx, 0x3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add eax, ebx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add eax, eax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mov esi, 0xFFFFFFFF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add ebx, esi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add esi, eax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FF0000"/>
                  </a:solidFill>
                  <a:latin typeface="Calibri (MS) Light"/>
                  <a:ea typeface="Calibri (MS) Light"/>
                  <a:cs typeface="Calibri (MS) Light"/>
                  <a:sym typeface="Calibri (MS) Light"/>
                </a:rPr>
                <a:t>Partial Registers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48740" y="2746058"/>
            <a:ext cx="15590520" cy="647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mov edi, 0xAB29FFFF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mov ecx, 0x00000703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mov eax, 0x000000FF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add al, ch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add di, cx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mov edi, 0xAB29FFFF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add edi, ecx</a:t>
            </a:r>
          </a:p>
          <a:p>
            <a:pPr algn="l" marL="760095" indent="-380048" lvl="1">
              <a:lnSpc>
                <a:spcPts val="4536"/>
              </a:lnSpc>
            </a:pP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683545"/>
            <a:ext cx="13716000" cy="3581400"/>
            <a:chOff x="0" y="0"/>
            <a:chExt cx="18288000" cy="477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4775200"/>
            </a:xfrm>
            <a:custGeom>
              <a:avLst/>
              <a:gdLst/>
              <a:ahLst/>
              <a:cxnLst/>
              <a:rect r="r" b="b" t="t" l="l"/>
              <a:pathLst>
                <a:path h="4775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775200"/>
                  </a:lnTo>
                  <a:lnTo>
                    <a:pt x="0" y="4775200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8288000" cy="486092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9000">
                  <a:solidFill>
                    <a:srgbClr val="FF0000"/>
                  </a:solidFill>
                  <a:latin typeface="Calibri (MS) Light"/>
                  <a:ea typeface="Calibri (MS) Light"/>
                  <a:cs typeface="Calibri (MS) Light"/>
                  <a:sym typeface="Calibri (MS) Light"/>
                </a:rPr>
                <a:t>Basic Arithmetic</a:t>
              </a:r>
            </a:p>
            <a:p>
              <a:pPr algn="ctr">
                <a:lnSpc>
                  <a:spcPts val="9720"/>
                </a:lnSpc>
              </a:pPr>
              <a:r>
                <a:rPr lang="en-US" sz="9000">
                  <a:solidFill>
                    <a:srgbClr val="FF0000"/>
                  </a:solidFill>
                  <a:latin typeface="Calibri (MS) Light"/>
                  <a:ea typeface="Calibri (MS) Light"/>
                  <a:cs typeface="Calibri (MS) Light"/>
                  <a:sym typeface="Calibri (MS) Light"/>
                </a:rPr>
                <a:t>SUB Instruction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FF0000"/>
                  </a:solidFill>
                  <a:latin typeface="Calibri (MS) Light"/>
                  <a:ea typeface="Calibri (MS) Light"/>
                  <a:cs typeface="Calibri (MS) Light"/>
                  <a:sym typeface="Calibri (MS) Light"/>
                </a:rPr>
                <a:t>Examples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48740" y="2746058"/>
            <a:ext cx="15590520" cy="647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SUB destination, source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destination  destination - source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sub eax, edx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sub edi, 0x2A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sub cl, dl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683545"/>
            <a:ext cx="13716000" cy="3581400"/>
            <a:chOff x="0" y="0"/>
            <a:chExt cx="18288000" cy="477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4775200"/>
            </a:xfrm>
            <a:custGeom>
              <a:avLst/>
              <a:gdLst/>
              <a:ahLst/>
              <a:cxnLst/>
              <a:rect r="r" b="b" t="t" l="l"/>
              <a:pathLst>
                <a:path h="4775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775200"/>
                  </a:lnTo>
                  <a:lnTo>
                    <a:pt x="0" y="4775200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8288000" cy="486092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9000">
                  <a:solidFill>
                    <a:srgbClr val="FF0000"/>
                  </a:solidFill>
                  <a:latin typeface="Calibri (MS) Light"/>
                  <a:ea typeface="Calibri (MS) Light"/>
                  <a:cs typeface="Calibri (MS) Light"/>
                  <a:sym typeface="Calibri (MS) Light"/>
                </a:rPr>
                <a:t>INC and DEC</a:t>
              </a:r>
            </a:p>
            <a:p>
              <a:pPr algn="ctr">
                <a:lnSpc>
                  <a:spcPts val="9720"/>
                </a:lnSpc>
              </a:pPr>
              <a:r>
                <a:rPr lang="en-US" sz="9000">
                  <a:solidFill>
                    <a:srgbClr val="FF0000"/>
                  </a:solidFill>
                  <a:latin typeface="Calibri (MS) Light"/>
                  <a:ea typeface="Calibri (MS) Light"/>
                  <a:cs typeface="Calibri (MS) Light"/>
                  <a:sym typeface="Calibri (MS) Light"/>
                </a:rPr>
                <a:t>Instructions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FF0000"/>
                  </a:solidFill>
                  <a:latin typeface="Calibri (MS) Light"/>
                  <a:ea typeface="Calibri (MS) Light"/>
                  <a:cs typeface="Calibri (MS) Light"/>
                  <a:sym typeface="Calibri (MS) Light"/>
                </a:rPr>
                <a:t>Examples of INC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48740" y="2746058"/>
            <a:ext cx="15590520" cy="647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INC register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register  register + 1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inc eax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eax  eax + 1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FF0000"/>
                  </a:solidFill>
                  <a:latin typeface="Calibri (MS) Light"/>
                  <a:ea typeface="Calibri (MS) Light"/>
                  <a:cs typeface="Calibri (MS) Light"/>
                  <a:sym typeface="Calibri (MS) Light"/>
                </a:rPr>
                <a:t>Examples of DEC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48740" y="2746058"/>
            <a:ext cx="15590520" cy="647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DEC register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register  register - 1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dec si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si si - 1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683545"/>
            <a:ext cx="13716000" cy="3581400"/>
            <a:chOff x="0" y="0"/>
            <a:chExt cx="18288000" cy="477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4775200"/>
            </a:xfrm>
            <a:custGeom>
              <a:avLst/>
              <a:gdLst/>
              <a:ahLst/>
              <a:cxnLst/>
              <a:rect r="r" b="b" t="t" l="l"/>
              <a:pathLst>
                <a:path h="4775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775200"/>
                  </a:lnTo>
                  <a:lnTo>
                    <a:pt x="0" y="4775200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8288000" cy="486092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9000">
                  <a:solidFill>
                    <a:srgbClr val="FF0000"/>
                  </a:solidFill>
                  <a:latin typeface="Calibri (MS) Light"/>
                  <a:ea typeface="Calibri (MS) Light"/>
                  <a:cs typeface="Calibri (MS) Light"/>
                  <a:sym typeface="Calibri (MS) Light"/>
                </a:rPr>
                <a:t>MUL (Multiply)</a:t>
              </a:r>
            </a:p>
            <a:p>
              <a:pPr algn="ctr">
                <a:lnSpc>
                  <a:spcPts val="9720"/>
                </a:lnSpc>
              </a:pPr>
              <a:r>
                <a:rPr lang="en-US" sz="9000">
                  <a:solidFill>
                    <a:srgbClr val="FF0000"/>
                  </a:solidFill>
                  <a:latin typeface="Calibri (MS) Light"/>
                  <a:ea typeface="Calibri (MS) Light"/>
                  <a:cs typeface="Calibri (MS) Light"/>
                  <a:sym typeface="Calibri (MS) Light"/>
                </a:rPr>
                <a:t>Instructions</a:t>
              </a:r>
            </a:p>
          </p:txBody>
        </p:sp>
      </p:grp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FF0000"/>
                  </a:solidFill>
                  <a:latin typeface="Calibri (MS) Light"/>
                  <a:ea typeface="Calibri (MS) Light"/>
                  <a:cs typeface="Calibri (MS) Light"/>
                  <a:sym typeface="Calibri (MS) Light"/>
                </a:rPr>
                <a:t>Examples of MUL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48740" y="2746058"/>
            <a:ext cx="15590520" cy="647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MUL register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ax  al . register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dx:ax  ax . register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edx:eax  eax . register</a:t>
            </a:r>
          </a:p>
          <a:p>
            <a:pPr algn="l" marL="760095" indent="-380048" lvl="1">
              <a:lnSpc>
                <a:spcPts val="4536"/>
              </a:lnSpc>
            </a:pP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edx:eax means that edx and eax are concatenated together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Note that the size of the result is twice the size of the argument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683545"/>
            <a:ext cx="13716000" cy="3581400"/>
            <a:chOff x="0" y="0"/>
            <a:chExt cx="18288000" cy="477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4775200"/>
            </a:xfrm>
            <a:custGeom>
              <a:avLst/>
              <a:gdLst/>
              <a:ahLst/>
              <a:cxnLst/>
              <a:rect r="r" b="b" t="t" l="l"/>
              <a:pathLst>
                <a:path h="4775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775200"/>
                  </a:lnTo>
                  <a:lnTo>
                    <a:pt x="0" y="4775200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8288000" cy="486092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9000">
                  <a:solidFill>
                    <a:srgbClr val="FF0000"/>
                  </a:solidFill>
                  <a:latin typeface="Calibri (MS) Light"/>
                  <a:ea typeface="Calibri (MS) Light"/>
                  <a:cs typeface="Calibri (MS) Light"/>
                  <a:sym typeface="Calibri (MS) Light"/>
                </a:rPr>
                <a:t>Intro to JUMPS</a:t>
              </a:r>
            </a:p>
          </p:txBody>
        </p:sp>
      </p:grp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FF0000"/>
                  </a:solidFill>
                  <a:latin typeface="Calibri (MS) Light"/>
                  <a:ea typeface="Calibri (MS) Light"/>
                  <a:cs typeface="Calibri (MS) Light"/>
                  <a:sym typeface="Calibri (MS) Light"/>
                </a:rPr>
                <a:t>Two types of JUMPS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48740" y="2746058"/>
            <a:ext cx="15590520" cy="647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Un-conditional jumps</a:t>
            </a:r>
          </a:p>
          <a:p>
            <a:pPr algn="l" marL="651510" indent="-325755" lvl="1">
              <a:lnSpc>
                <a:spcPts val="3888"/>
              </a:lnSpc>
            </a:pPr>
            <a:r>
              <a:rPr lang="en-US" sz="3600">
                <a:solidFill>
                  <a:srgbClr val="FF0000"/>
                </a:solidFill>
                <a:latin typeface="Calibri (MS)"/>
                <a:ea typeface="Calibri (MS)"/>
                <a:cs typeface="Calibri (MS)"/>
                <a:sym typeface="Calibri (MS)"/>
              </a:rPr>
              <a:t>jmp 0x04012428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Conditional jumps</a:t>
            </a:r>
          </a:p>
          <a:p>
            <a:pPr algn="l" marL="651510" indent="-325755" lvl="1">
              <a:lnSpc>
                <a:spcPts val="3888"/>
              </a:lnSpc>
            </a:pPr>
            <a:r>
              <a:rPr lang="en-US" sz="3600">
                <a:solidFill>
                  <a:srgbClr val="FF0000"/>
                </a:solidFill>
                <a:latin typeface="Calibri (MS)"/>
                <a:ea typeface="Calibri (MS)"/>
                <a:cs typeface="Calibri (MS)"/>
                <a:sym typeface="Calibri (MS)"/>
              </a:rPr>
              <a:t>jz 0x04012428</a:t>
            </a:r>
          </a:p>
          <a:p>
            <a:pPr algn="l" marL="651510" indent="-325755" lvl="1">
              <a:lnSpc>
                <a:spcPts val="3888"/>
              </a:lnSpc>
            </a:pPr>
            <a:r>
              <a:rPr lang="en-US" sz="3600">
                <a:solidFill>
                  <a:srgbClr val="FF0000"/>
                </a:solidFill>
                <a:latin typeface="Calibri (MS)"/>
                <a:ea typeface="Calibri (MS)"/>
                <a:cs typeface="Calibri (MS)"/>
                <a:sym typeface="Calibri (MS)"/>
              </a:rPr>
              <a:t>jnz 0x04012428</a:t>
            </a: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FF0000"/>
                  </a:solidFill>
                  <a:latin typeface="Calibri (MS) Light"/>
                  <a:ea typeface="Calibri (MS) Light"/>
                  <a:cs typeface="Calibri (MS) Light"/>
                  <a:sym typeface="Calibri (MS) Light"/>
                </a:rPr>
                <a:t>Conditional JUMPS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48740" y="2746058"/>
            <a:ext cx="15590520" cy="647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Based on values inside flags register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FF0000"/>
                  </a:solidFill>
                  <a:latin typeface="Calibri (MS) Light"/>
                  <a:ea typeface="Calibri (MS) Light"/>
                  <a:cs typeface="Calibri (MS) Light"/>
                  <a:sym typeface="Calibri (MS) Light"/>
                </a:rPr>
                <a:t>JZ (Jump Zero)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48740" y="2746058"/>
            <a:ext cx="15590520" cy="647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jumps only if the ZF is set to 1 (i.e. the result of the last calculation is zero), eg:</a:t>
            </a:r>
          </a:p>
          <a:p>
            <a:pPr algn="l" marL="651510" indent="-325755" lvl="1">
              <a:lnSpc>
                <a:spcPts val="3888"/>
              </a:lnSpc>
            </a:pPr>
            <a:r>
              <a:rPr lang="en-US" sz="3600">
                <a:solidFill>
                  <a:srgbClr val="FF0000"/>
                </a:solidFill>
                <a:latin typeface="Calibri (MS)"/>
                <a:ea typeface="Calibri (MS)"/>
                <a:cs typeface="Calibri (MS)"/>
                <a:sym typeface="Calibri (MS)"/>
              </a:rPr>
              <a:t>		   mov eax, 0x1</a:t>
            </a:r>
          </a:p>
          <a:p>
            <a:pPr algn="l" marL="651510" indent="-325755" lvl="1">
              <a:lnSpc>
                <a:spcPts val="3888"/>
              </a:lnSpc>
            </a:pPr>
            <a:r>
              <a:rPr lang="en-US" sz="3600">
                <a:solidFill>
                  <a:srgbClr val="FF0000"/>
                </a:solidFill>
                <a:latin typeface="Calibri (MS)"/>
                <a:ea typeface="Calibri (MS)"/>
                <a:cs typeface="Calibri (MS)"/>
                <a:sym typeface="Calibri (MS)"/>
              </a:rPr>
              <a:t>		   </a:t>
            </a:r>
            <a:r>
              <a:rPr lang="en-US" sz="36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dec</a:t>
            </a:r>
            <a:r>
              <a:rPr lang="en-US" sz="3600">
                <a:solidFill>
                  <a:srgbClr val="FF0000"/>
                </a:solidFill>
                <a:latin typeface="Calibri (MS)"/>
                <a:ea typeface="Calibri (MS)"/>
                <a:cs typeface="Calibri (MS)"/>
                <a:sym typeface="Calibri (MS)"/>
              </a:rPr>
              <a:t> eax</a:t>
            </a:r>
          </a:p>
          <a:p>
            <a:pPr algn="l" marL="651510" indent="-325755" lvl="1">
              <a:lnSpc>
                <a:spcPts val="3888"/>
              </a:lnSpc>
            </a:pPr>
            <a:r>
              <a:rPr lang="en-US" sz="3600">
                <a:solidFill>
                  <a:srgbClr val="FF0000"/>
                </a:solidFill>
                <a:latin typeface="Calibri (MS)"/>
                <a:ea typeface="Calibri (MS)"/>
                <a:cs typeface="Calibri (MS)"/>
                <a:sym typeface="Calibri (MS)"/>
              </a:rPr>
              <a:t>		   </a:t>
            </a:r>
            <a:r>
              <a:rPr lang="en-US" sz="36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jz</a:t>
            </a:r>
            <a:r>
              <a:rPr lang="en-US" sz="3600">
                <a:solidFill>
                  <a:srgbClr val="FF0000"/>
                </a:solidFill>
                <a:latin typeface="Calibri (MS)"/>
                <a:ea typeface="Calibri (MS)"/>
                <a:cs typeface="Calibri (MS)"/>
                <a:sym typeface="Calibri (MS)"/>
              </a:rPr>
              <a:t> 0x04012428</a:t>
            </a:r>
          </a:p>
          <a:p>
            <a:pPr algn="l" marL="651510" indent="-325755" lvl="1">
              <a:lnSpc>
                <a:spcPts val="3888"/>
              </a:lnSpc>
            </a:pPr>
            <a:r>
              <a:rPr lang="en-US" sz="3600">
                <a:solidFill>
                  <a:srgbClr val="FF0000"/>
                </a:solidFill>
                <a:latin typeface="Calibri (MS)"/>
                <a:ea typeface="Calibri (MS)"/>
                <a:cs typeface="Calibri (MS)"/>
                <a:sym typeface="Calibri (MS)"/>
              </a:rPr>
              <a:t>		   add eax, 0x5</a:t>
            </a:r>
          </a:p>
          <a:p>
            <a:pPr algn="l" marL="651510" indent="-325755" lvl="1">
              <a:lnSpc>
                <a:spcPts val="3888"/>
              </a:lnSpc>
            </a:pPr>
            <a:r>
              <a:rPr lang="en-US" sz="3600">
                <a:solidFill>
                  <a:srgbClr val="7030A0"/>
                </a:solidFill>
                <a:latin typeface="Calibri (MS)"/>
                <a:ea typeface="Calibri (MS)"/>
                <a:cs typeface="Calibri (MS)"/>
                <a:sym typeface="Calibri (MS)"/>
              </a:rPr>
              <a:t>0x04012428</a:t>
            </a:r>
            <a:r>
              <a:rPr lang="en-US" sz="3600">
                <a:solidFill>
                  <a:srgbClr val="FF0000"/>
                </a:solidFill>
                <a:latin typeface="Calibri (MS)"/>
                <a:ea typeface="Calibri (MS)"/>
                <a:cs typeface="Calibri (MS)"/>
                <a:sym typeface="Calibri (MS)"/>
              </a:rPr>
              <a:t> add eax, 0x2</a:t>
            </a:r>
          </a:p>
          <a:p>
            <a:pPr algn="l" marL="651510" indent="-325755" lvl="1">
              <a:lnSpc>
                <a:spcPts val="3888"/>
              </a:lnSpc>
            </a:pPr>
          </a:p>
          <a:p>
            <a:pPr algn="l" marL="651510" indent="-325755" lvl="1">
              <a:lnSpc>
                <a:spcPts val="3888"/>
              </a:lnSpc>
            </a:pPr>
            <a:r>
              <a:rPr lang="en-US" sz="3600">
                <a:solidFill>
                  <a:srgbClr val="002060"/>
                </a:solidFill>
                <a:latin typeface="Calibri (MS)"/>
                <a:ea typeface="Calibri (MS)"/>
                <a:cs typeface="Calibri (MS)"/>
                <a:sym typeface="Calibri (MS)"/>
              </a:rPr>
              <a:t>Jump is taken</a:t>
            </a:r>
          </a:p>
          <a:p>
            <a:pPr algn="l" marL="651510" indent="-325755" lvl="1">
              <a:lnSpc>
                <a:spcPts val="3888"/>
              </a:lnSpc>
            </a:pPr>
            <a:r>
              <a:rPr lang="en-US" sz="3600">
                <a:solidFill>
                  <a:srgbClr val="002060"/>
                </a:solidFill>
                <a:latin typeface="Calibri (MS)"/>
                <a:ea typeface="Calibri (MS)"/>
                <a:cs typeface="Calibri (MS)"/>
                <a:sym typeface="Calibri (MS)"/>
              </a:rPr>
              <a:t>EAX = 2</a:t>
            </a:r>
          </a:p>
        </p:txBody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FF0000"/>
                  </a:solidFill>
                  <a:latin typeface="Calibri (MS) Light"/>
                  <a:ea typeface="Calibri (MS) Light"/>
                  <a:cs typeface="Calibri (MS) Light"/>
                  <a:sym typeface="Calibri (MS) Light"/>
                </a:rPr>
                <a:t>JNZ (Jump Not Zero)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48740" y="2746058"/>
            <a:ext cx="15590520" cy="647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jumps only if the ZF is cleared to 0 (i.e. the result of the last calculation is </a:t>
            </a:r>
            <a:r>
              <a:rPr lang="en-US" sz="4200">
                <a:solidFill>
                  <a:srgbClr val="C00000"/>
                </a:solidFill>
                <a:latin typeface="Calibri (MS)"/>
                <a:ea typeface="Calibri (MS)"/>
                <a:cs typeface="Calibri (MS)"/>
                <a:sym typeface="Calibri (MS)"/>
              </a:rPr>
              <a:t>non-zero</a:t>
            </a: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), eg:</a:t>
            </a:r>
          </a:p>
          <a:p>
            <a:pPr algn="l" marL="651510" indent="-325755" lvl="1">
              <a:lnSpc>
                <a:spcPts val="3888"/>
              </a:lnSpc>
            </a:pPr>
            <a:r>
              <a:rPr lang="en-US" sz="3600">
                <a:solidFill>
                  <a:srgbClr val="FF0000"/>
                </a:solidFill>
                <a:latin typeface="Calibri (MS)"/>
                <a:ea typeface="Calibri (MS)"/>
                <a:cs typeface="Calibri (MS)"/>
                <a:sym typeface="Calibri (MS)"/>
              </a:rPr>
              <a:t>		   mov eax, 0x1</a:t>
            </a:r>
          </a:p>
          <a:p>
            <a:pPr algn="l" marL="651510" indent="-325755" lvl="1">
              <a:lnSpc>
                <a:spcPts val="3888"/>
              </a:lnSpc>
            </a:pPr>
            <a:r>
              <a:rPr lang="en-US" sz="3600">
                <a:solidFill>
                  <a:srgbClr val="FF0000"/>
                </a:solidFill>
                <a:latin typeface="Calibri (MS)"/>
                <a:ea typeface="Calibri (MS)"/>
                <a:cs typeface="Calibri (MS)"/>
                <a:sym typeface="Calibri (MS)"/>
              </a:rPr>
              <a:t>		   </a:t>
            </a:r>
            <a:r>
              <a:rPr lang="en-US" sz="36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inc</a:t>
            </a:r>
            <a:r>
              <a:rPr lang="en-US" sz="3600">
                <a:solidFill>
                  <a:srgbClr val="FF0000"/>
                </a:solidFill>
                <a:latin typeface="Calibri (MS)"/>
                <a:ea typeface="Calibri (MS)"/>
                <a:cs typeface="Calibri (MS)"/>
                <a:sym typeface="Calibri (MS)"/>
              </a:rPr>
              <a:t> eax</a:t>
            </a:r>
          </a:p>
          <a:p>
            <a:pPr algn="l" marL="651510" indent="-325755" lvl="1">
              <a:lnSpc>
                <a:spcPts val="3888"/>
              </a:lnSpc>
            </a:pPr>
            <a:r>
              <a:rPr lang="en-US" sz="3600">
                <a:solidFill>
                  <a:srgbClr val="FF0000"/>
                </a:solidFill>
                <a:latin typeface="Calibri (MS)"/>
                <a:ea typeface="Calibri (MS)"/>
                <a:cs typeface="Calibri (MS)"/>
                <a:sym typeface="Calibri (MS)"/>
              </a:rPr>
              <a:t>		   </a:t>
            </a:r>
            <a:r>
              <a:rPr lang="en-US" sz="36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jnz</a:t>
            </a:r>
            <a:r>
              <a:rPr lang="en-US" sz="3600">
                <a:solidFill>
                  <a:srgbClr val="FF0000"/>
                </a:solidFill>
                <a:latin typeface="Calibri (MS)"/>
                <a:ea typeface="Calibri (MS)"/>
                <a:cs typeface="Calibri (MS)"/>
                <a:sym typeface="Calibri (MS)"/>
              </a:rPr>
              <a:t> 0x04012428</a:t>
            </a:r>
          </a:p>
          <a:p>
            <a:pPr algn="l" marL="651510" indent="-325755" lvl="1">
              <a:lnSpc>
                <a:spcPts val="3888"/>
              </a:lnSpc>
            </a:pPr>
            <a:r>
              <a:rPr lang="en-US" sz="3600">
                <a:solidFill>
                  <a:srgbClr val="FF0000"/>
                </a:solidFill>
                <a:latin typeface="Calibri (MS)"/>
                <a:ea typeface="Calibri (MS)"/>
                <a:cs typeface="Calibri (MS)"/>
                <a:sym typeface="Calibri (MS)"/>
              </a:rPr>
              <a:t>		   add eax, 0x5</a:t>
            </a:r>
          </a:p>
          <a:p>
            <a:pPr algn="l" marL="651510" indent="-325755" lvl="1">
              <a:lnSpc>
                <a:spcPts val="3888"/>
              </a:lnSpc>
            </a:pPr>
            <a:r>
              <a:rPr lang="en-US" sz="3600">
                <a:solidFill>
                  <a:srgbClr val="7030A0"/>
                </a:solidFill>
                <a:latin typeface="Calibri (MS)"/>
                <a:ea typeface="Calibri (MS)"/>
                <a:cs typeface="Calibri (MS)"/>
                <a:sym typeface="Calibri (MS)"/>
              </a:rPr>
              <a:t>0x04012428</a:t>
            </a:r>
            <a:r>
              <a:rPr lang="en-US" sz="3600">
                <a:solidFill>
                  <a:srgbClr val="FF0000"/>
                </a:solidFill>
                <a:latin typeface="Calibri (MS)"/>
                <a:ea typeface="Calibri (MS)"/>
                <a:cs typeface="Calibri (MS)"/>
                <a:sym typeface="Calibri (MS)"/>
              </a:rPr>
              <a:t> add eax, 0x2</a:t>
            </a:r>
          </a:p>
          <a:p>
            <a:pPr algn="l" marL="651510" indent="-325755" lvl="1">
              <a:lnSpc>
                <a:spcPts val="3888"/>
              </a:lnSpc>
            </a:pPr>
          </a:p>
          <a:p>
            <a:pPr algn="l" marL="651510" indent="-325755" lvl="1">
              <a:lnSpc>
                <a:spcPts val="3888"/>
              </a:lnSpc>
            </a:pPr>
            <a:r>
              <a:rPr lang="en-US" sz="3600">
                <a:solidFill>
                  <a:srgbClr val="002060"/>
                </a:solidFill>
                <a:latin typeface="Calibri (MS)"/>
                <a:ea typeface="Calibri (MS)"/>
                <a:cs typeface="Calibri (MS)"/>
                <a:sym typeface="Calibri (MS)"/>
              </a:rPr>
              <a:t>Jump is taken</a:t>
            </a:r>
          </a:p>
          <a:p>
            <a:pPr algn="l" marL="651510" indent="-325755" lvl="1">
              <a:lnSpc>
                <a:spcPts val="3888"/>
              </a:lnSpc>
            </a:pPr>
            <a:r>
              <a:rPr lang="en-US" sz="3600">
                <a:solidFill>
                  <a:srgbClr val="002060"/>
                </a:solidFill>
                <a:latin typeface="Calibri (MS)"/>
                <a:ea typeface="Calibri (MS)"/>
                <a:cs typeface="Calibri (MS)"/>
                <a:sym typeface="Calibri (MS)"/>
              </a:rPr>
              <a:t>EAX = 4</a:t>
            </a:r>
          </a:p>
        </p:txBody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683545"/>
            <a:ext cx="13716000" cy="3581400"/>
            <a:chOff x="0" y="0"/>
            <a:chExt cx="18288000" cy="477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4775200"/>
            </a:xfrm>
            <a:custGeom>
              <a:avLst/>
              <a:gdLst/>
              <a:ahLst/>
              <a:cxnLst/>
              <a:rect r="r" b="b" t="t" l="l"/>
              <a:pathLst>
                <a:path h="4775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775200"/>
                  </a:lnTo>
                  <a:lnTo>
                    <a:pt x="0" y="4775200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8288000" cy="486092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9000">
                  <a:solidFill>
                    <a:srgbClr val="FF0000"/>
                  </a:solidFill>
                  <a:latin typeface="Calibri (MS) Light"/>
                  <a:ea typeface="Calibri (MS) Light"/>
                  <a:cs typeface="Calibri (MS) Light"/>
                  <a:sym typeface="Calibri (MS) Light"/>
                </a:rPr>
                <a:t>Other jumps</a:t>
              </a:r>
            </a:p>
          </p:txBody>
        </p:sp>
      </p:grp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FF0000"/>
                  </a:solidFill>
                  <a:latin typeface="Calibri (MS) Light"/>
                  <a:ea typeface="Calibri (MS) Light"/>
                  <a:cs typeface="Calibri (MS) Light"/>
                  <a:sym typeface="Calibri (MS) Light"/>
                </a:rPr>
                <a:t>JS and JNS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48740" y="2746058"/>
            <a:ext cx="15590520" cy="647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JS = Jump if SF (sign flag) is set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JNS = Jump if SF is cleared</a:t>
            </a:r>
          </a:p>
        </p:txBody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FF0000"/>
                  </a:solidFill>
                  <a:latin typeface="Calibri (MS) Light"/>
                  <a:ea typeface="Calibri (MS) Light"/>
                  <a:cs typeface="Calibri (MS) Light"/>
                  <a:sym typeface="Calibri (MS) Light"/>
                </a:rPr>
                <a:t>JC and JNC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48740" y="2746058"/>
            <a:ext cx="15590520" cy="647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JC = Jump if CF (carry flag) is set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JNC = Jump if CF is cleared</a:t>
            </a:r>
          </a:p>
        </p:txBody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FF0000"/>
                  </a:solidFill>
                  <a:latin typeface="Calibri (MS) Light"/>
                  <a:ea typeface="Calibri (MS) Light"/>
                  <a:cs typeface="Calibri (MS) Light"/>
                  <a:sym typeface="Calibri (MS) Light"/>
                </a:rPr>
                <a:t>JO and JNO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48740" y="2746058"/>
            <a:ext cx="15590520" cy="647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JO = Jump if OF (overflow flag) is set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JNO = Jump if OF is cleared</a:t>
            </a:r>
          </a:p>
        </p:txBody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807481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FF0000"/>
                  </a:solidFill>
                  <a:latin typeface="Calibri (MS) Light"/>
                  <a:ea typeface="Calibri (MS) Light"/>
                  <a:cs typeface="Calibri (MS) Light"/>
                  <a:sym typeface="Calibri (MS) Light"/>
                </a:rPr>
                <a:t>Reading Flags Register Indirectly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48740" y="3005852"/>
            <a:ext cx="15590520" cy="647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Cannot read Flags Register directly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So, we can use the conditional jumps as an indirect way to read the Flags Register</a:t>
            </a:r>
          </a:p>
        </p:txBody>
      </p: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683545"/>
            <a:ext cx="13716000" cy="3581400"/>
            <a:chOff x="0" y="0"/>
            <a:chExt cx="18288000" cy="477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4775200"/>
            </a:xfrm>
            <a:custGeom>
              <a:avLst/>
              <a:gdLst/>
              <a:ahLst/>
              <a:cxnLst/>
              <a:rect r="r" b="b" t="t" l="l"/>
              <a:pathLst>
                <a:path h="4775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775200"/>
                  </a:lnTo>
                  <a:lnTo>
                    <a:pt x="0" y="4775200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8288000" cy="486092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9000">
                  <a:solidFill>
                    <a:srgbClr val="FF0000"/>
                  </a:solidFill>
                  <a:latin typeface="Calibri (MS) Light"/>
                  <a:ea typeface="Calibri (MS) Light"/>
                  <a:cs typeface="Calibri (MS) Light"/>
                  <a:sym typeface="Calibri (MS) Light"/>
                </a:rPr>
                <a:t>Intro to CMP instructions</a:t>
              </a:r>
            </a:p>
          </p:txBody>
        </p:sp>
      </p:grp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FF0000"/>
                  </a:solidFill>
                  <a:latin typeface="Calibri (MS) Light"/>
                  <a:ea typeface="Calibri (MS) Light"/>
                  <a:cs typeface="Calibri (MS) Light"/>
                  <a:sym typeface="Calibri (MS) Light"/>
                </a:rPr>
                <a:t>CMP (compare instruction)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48740" y="2746058"/>
            <a:ext cx="15590520" cy="647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CMP is used to compare 2 numbers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CMP A, B</a:t>
            </a: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 – B, then changes flags accordingly but does not change A or B</a:t>
            </a:r>
          </a:p>
          <a:p>
            <a:pPr algn="l" marL="760095" indent="-380048" lvl="1">
              <a:lnSpc>
                <a:spcPts val="4536"/>
              </a:lnSpc>
            </a:pPr>
          </a:p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7030A0"/>
                </a:solidFill>
                <a:latin typeface="Calibri (MS)"/>
                <a:ea typeface="Calibri (MS)"/>
                <a:cs typeface="Calibri (MS)"/>
                <a:sym typeface="Calibri (MS)"/>
              </a:rPr>
              <a:t>JC is also known as JB (Jump if Below)</a:t>
            </a:r>
          </a:p>
        </p:txBody>
      </p: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683545"/>
            <a:ext cx="13716000" cy="3581400"/>
            <a:chOff x="0" y="0"/>
            <a:chExt cx="18288000" cy="477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4775200"/>
            </a:xfrm>
            <a:custGeom>
              <a:avLst/>
              <a:gdLst/>
              <a:ahLst/>
              <a:cxnLst/>
              <a:rect r="r" b="b" t="t" l="l"/>
              <a:pathLst>
                <a:path h="4775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775200"/>
                  </a:lnTo>
                  <a:lnTo>
                    <a:pt x="0" y="4775200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8288000" cy="486092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9000">
                  <a:solidFill>
                    <a:srgbClr val="FF0000"/>
                  </a:solidFill>
                  <a:latin typeface="Calibri (MS) Light"/>
                  <a:ea typeface="Calibri (MS) Light"/>
                  <a:cs typeface="Calibri (MS) Light"/>
                  <a:sym typeface="Calibri (MS) Light"/>
                </a:rPr>
                <a:t>Comparing unsigned and signed numbers</a:t>
              </a:r>
            </a:p>
          </p:txBody>
        </p:sp>
      </p:grpSp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FF0000"/>
                  </a:solidFill>
                  <a:latin typeface="Calibri (MS) Light"/>
                  <a:ea typeface="Calibri (MS) Light"/>
                  <a:cs typeface="Calibri (MS) Light"/>
                  <a:sym typeface="Calibri (MS) Light"/>
                </a:rPr>
                <a:t>CMP unsigned numbers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48740" y="2746058"/>
            <a:ext cx="15590520" cy="647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following instructions are for unsigned comparisons:</a:t>
            </a:r>
          </a:p>
          <a:p>
            <a:pPr algn="l" marL="651510" indent="-325755" lvl="1">
              <a:lnSpc>
                <a:spcPts val="3888"/>
              </a:lnSpc>
            </a:pPr>
            <a:r>
              <a:rPr lang="en-US" sz="3600">
                <a:solidFill>
                  <a:srgbClr val="FF0000"/>
                </a:solidFill>
                <a:latin typeface="Calibri (MS)"/>
                <a:ea typeface="Calibri (MS)"/>
                <a:cs typeface="Calibri (MS)"/>
                <a:sym typeface="Calibri (MS)"/>
              </a:rPr>
              <a:t>JB</a:t>
            </a: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= Jump if Below</a:t>
            </a:r>
          </a:p>
          <a:p>
            <a:pPr algn="l" marL="651510" indent="-325755" lvl="1">
              <a:lnSpc>
                <a:spcPts val="3888"/>
              </a:lnSpc>
            </a:pPr>
            <a:r>
              <a:rPr lang="en-US" sz="3600">
                <a:solidFill>
                  <a:srgbClr val="FF0000"/>
                </a:solidFill>
                <a:latin typeface="Calibri (MS)"/>
                <a:ea typeface="Calibri (MS)"/>
                <a:cs typeface="Calibri (MS)"/>
                <a:sym typeface="Calibri (MS)"/>
              </a:rPr>
              <a:t>JBE</a:t>
            </a: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= Jump if Below or Equal</a:t>
            </a:r>
          </a:p>
          <a:p>
            <a:pPr algn="l" marL="651510" indent="-325755" lvl="1">
              <a:lnSpc>
                <a:spcPts val="3888"/>
              </a:lnSpc>
            </a:pPr>
            <a:r>
              <a:rPr lang="en-US" sz="3600">
                <a:solidFill>
                  <a:srgbClr val="FF0000"/>
                </a:solidFill>
                <a:latin typeface="Calibri (MS)"/>
                <a:ea typeface="Calibri (MS)"/>
                <a:cs typeface="Calibri (MS)"/>
                <a:sym typeface="Calibri (MS)"/>
              </a:rPr>
              <a:t>JA</a:t>
            </a: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= Jump if Above</a:t>
            </a:r>
          </a:p>
          <a:p>
            <a:pPr algn="l" marL="651510" indent="-325755" lvl="1">
              <a:lnSpc>
                <a:spcPts val="3888"/>
              </a:lnSpc>
            </a:pPr>
            <a:r>
              <a:rPr lang="en-US" sz="3600">
                <a:solidFill>
                  <a:srgbClr val="FF0000"/>
                </a:solidFill>
                <a:latin typeface="Calibri (MS)"/>
                <a:ea typeface="Calibri (MS)"/>
                <a:cs typeface="Calibri (MS)"/>
                <a:sym typeface="Calibri (MS)"/>
              </a:rPr>
              <a:t>JAE</a:t>
            </a: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= Jump if Above or Equal</a:t>
            </a:r>
          </a:p>
        </p:txBody>
      </p:sp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2194248" y="4256576"/>
          <a:ext cx="13792200" cy="2762250"/>
        </p:xfrm>
        <a:graphic>
          <a:graphicData uri="http://schemas.openxmlformats.org/drawingml/2006/table">
            <a:tbl>
              <a:tblPr/>
              <a:tblGrid>
                <a:gridCol w="5051650"/>
                <a:gridCol w="8740550"/>
              </a:tblGrid>
              <a:tr h="5524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Jump Instruction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Intuitive Meaning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5524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JB (Jump Below)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Jump if EAX is Below EBX (EAX &lt; EBX)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5524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JBE (Jump Below or Equal)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Jump if EAX is Below EBX, or, Equal (EAX &lt;= EBX)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  <a:tr h="5524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JA (Jump Above)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Jump if EAX is Above EBX (EAX &gt; EBX)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</a:tr>
              <a:tr h="5524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JAE (Jump Above or Equal)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Jump if EAX is Above EBX, or, Equal (EAX &gt;= EBX)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</a:tr>
            </a:tbl>
          </a:graphicData>
        </a:graphic>
      </p:graphicFrame>
      <p:grpSp>
        <p:nvGrpSpPr>
          <p:cNvPr name="Group 3" id="3"/>
          <p:cNvGrpSpPr/>
          <p:nvPr/>
        </p:nvGrpSpPr>
        <p:grpSpPr>
          <a:xfrm rot="0">
            <a:off x="1257300" y="547688"/>
            <a:ext cx="15773400" cy="1988345"/>
            <a:chOff x="0" y="0"/>
            <a:chExt cx="21031200" cy="265112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FF0000"/>
                  </a:solidFill>
                  <a:latin typeface="Calibri (MS) Light"/>
                  <a:ea typeface="Calibri (MS) Light"/>
                  <a:cs typeface="Calibri (MS) Light"/>
                  <a:sym typeface="Calibri (MS) Light"/>
                </a:rPr>
                <a:t>CMP unsigned numbers (3)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470748" y="8176182"/>
            <a:ext cx="5841462" cy="935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JB is the same as JC (Jump Carry)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JAE is the same as JNC (Jump if No Carry)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12598" y="2900126"/>
            <a:ext cx="7906738" cy="935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An intuitive way to understand the Jump Instructions: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Assuming: </a:t>
            </a:r>
            <a:r>
              <a:rPr lang="en-US" sz="2700">
                <a:solidFill>
                  <a:srgbClr val="FF0000"/>
                </a:solidFill>
                <a:latin typeface="Calibri (MS)"/>
                <a:ea typeface="Calibri (MS)"/>
                <a:cs typeface="Calibri (MS)"/>
                <a:sym typeface="Calibri (MS)"/>
              </a:rPr>
              <a:t>CMP EAX, EBX </a:t>
            </a:r>
          </a:p>
        </p:txBody>
      </p:sp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>
  <p:cSld>
    <p:bg>
      <p:bgPr>
        <a:solidFill>
          <a:srgbClr val="545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547688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FF0000"/>
                  </a:solidFill>
                  <a:latin typeface="Calibri (MS) Light"/>
                  <a:ea typeface="Calibri (MS) Light"/>
                  <a:cs typeface="Calibri (MS) Light"/>
                  <a:sym typeface="Calibri (MS) Light"/>
                </a:rPr>
                <a:t>CMP signed numbers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48740" y="2746058"/>
            <a:ext cx="15590520" cy="647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0095" indent="-380048" lvl="1">
              <a:lnSpc>
                <a:spcPts val="4536"/>
              </a:lnSpc>
              <a:buFont typeface="Arial"/>
              <a:buChar char="•"/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following instructions are for signed comparisons:</a:t>
            </a:r>
          </a:p>
          <a:p>
            <a:pPr algn="l" marL="651510" indent="-325755" lvl="1">
              <a:lnSpc>
                <a:spcPts val="3888"/>
              </a:lnSpc>
            </a:pPr>
            <a:r>
              <a:rPr lang="en-US" sz="3600">
                <a:solidFill>
                  <a:srgbClr val="FF0000"/>
                </a:solidFill>
                <a:latin typeface="Calibri (MS)"/>
                <a:ea typeface="Calibri (MS)"/>
                <a:cs typeface="Calibri (MS)"/>
                <a:sym typeface="Calibri (MS)"/>
              </a:rPr>
              <a:t>JL</a:t>
            </a: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= Jump if Less</a:t>
            </a:r>
          </a:p>
          <a:p>
            <a:pPr algn="l" marL="651510" indent="-325755" lvl="1">
              <a:lnSpc>
                <a:spcPts val="3888"/>
              </a:lnSpc>
            </a:pPr>
            <a:r>
              <a:rPr lang="en-US" sz="3600">
                <a:solidFill>
                  <a:srgbClr val="FF0000"/>
                </a:solidFill>
                <a:latin typeface="Calibri (MS)"/>
                <a:ea typeface="Calibri (MS)"/>
                <a:cs typeface="Calibri (MS)"/>
                <a:sym typeface="Calibri (MS)"/>
              </a:rPr>
              <a:t>JLE</a:t>
            </a: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= Jump if Less or Equal</a:t>
            </a:r>
          </a:p>
          <a:p>
            <a:pPr algn="l" marL="651510" indent="-325755" lvl="1">
              <a:lnSpc>
                <a:spcPts val="3888"/>
              </a:lnSpc>
            </a:pPr>
            <a:r>
              <a:rPr lang="en-US" sz="3600">
                <a:solidFill>
                  <a:srgbClr val="FF0000"/>
                </a:solidFill>
                <a:latin typeface="Calibri (MS)"/>
                <a:ea typeface="Calibri (MS)"/>
                <a:cs typeface="Calibri (MS)"/>
                <a:sym typeface="Calibri (MS)"/>
              </a:rPr>
              <a:t>JG</a:t>
            </a: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= Jump if Greater</a:t>
            </a:r>
          </a:p>
          <a:p>
            <a:pPr algn="l" marL="651510" indent="-325755" lvl="1">
              <a:lnSpc>
                <a:spcPts val="3888"/>
              </a:lnSpc>
            </a:pPr>
            <a:r>
              <a:rPr lang="en-US" sz="3600">
                <a:solidFill>
                  <a:srgbClr val="FF0000"/>
                </a:solidFill>
                <a:latin typeface="Calibri (MS)"/>
                <a:ea typeface="Calibri (MS)"/>
                <a:cs typeface="Calibri (MS)"/>
                <a:sym typeface="Calibri (MS)"/>
              </a:rPr>
              <a:t>JGE</a:t>
            </a: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= Jump if Greater or Equal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DAGg0Xs34o4</dc:identifier>
  <dcterms:modified xsi:type="dcterms:W3CDTF">2011-08-01T06:04:30Z</dcterms:modified>
  <cp:revision>1</cp:revision>
  <dc:title>1</dc:title>
</cp:coreProperties>
</file>